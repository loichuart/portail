
<file path=[Content_Types].xml><?xml version="1.0" encoding="utf-8"?>
<Types xmlns="http://schemas.openxmlformats.org/package/2006/content-types">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6" r:id="rId3"/>
  </p:sldIdLst>
  <p:sldSz cx="9906000" cy="6858000" type="A4"/>
  <p:notesSz cx="6797675" cy="9926638"/>
  <p:defaultTextStyle>
    <a:defPPr>
      <a:defRPr lang="fr-FR"/>
    </a:defPPr>
    <a:lvl1pPr marL="0" algn="l" defTabSz="914287" rtl="0" eaLnBrk="1" latinLnBrk="0" hangingPunct="1">
      <a:defRPr sz="1800" kern="1200">
        <a:solidFill>
          <a:schemeClr val="tx1"/>
        </a:solidFill>
        <a:latin typeface="+mn-lt"/>
        <a:ea typeface="+mn-ea"/>
        <a:cs typeface="+mn-cs"/>
      </a:defRPr>
    </a:lvl1pPr>
    <a:lvl2pPr marL="457144" algn="l" defTabSz="914287" rtl="0" eaLnBrk="1" latinLnBrk="0" hangingPunct="1">
      <a:defRPr sz="1800" kern="1200">
        <a:solidFill>
          <a:schemeClr val="tx1"/>
        </a:solidFill>
        <a:latin typeface="+mn-lt"/>
        <a:ea typeface="+mn-ea"/>
        <a:cs typeface="+mn-cs"/>
      </a:defRPr>
    </a:lvl2pPr>
    <a:lvl3pPr marL="914287" algn="l" defTabSz="914287" rtl="0" eaLnBrk="1" latinLnBrk="0" hangingPunct="1">
      <a:defRPr sz="1800" kern="1200">
        <a:solidFill>
          <a:schemeClr val="tx1"/>
        </a:solidFill>
        <a:latin typeface="+mn-lt"/>
        <a:ea typeface="+mn-ea"/>
        <a:cs typeface="+mn-cs"/>
      </a:defRPr>
    </a:lvl3pPr>
    <a:lvl4pPr marL="1371430" algn="l" defTabSz="914287" rtl="0" eaLnBrk="1" latinLnBrk="0" hangingPunct="1">
      <a:defRPr sz="1800" kern="1200">
        <a:solidFill>
          <a:schemeClr val="tx1"/>
        </a:solidFill>
        <a:latin typeface="+mn-lt"/>
        <a:ea typeface="+mn-ea"/>
        <a:cs typeface="+mn-cs"/>
      </a:defRPr>
    </a:lvl4pPr>
    <a:lvl5pPr marL="1828573" algn="l" defTabSz="914287" rtl="0" eaLnBrk="1" latinLnBrk="0" hangingPunct="1">
      <a:defRPr sz="1800" kern="1200">
        <a:solidFill>
          <a:schemeClr val="tx1"/>
        </a:solidFill>
        <a:latin typeface="+mn-lt"/>
        <a:ea typeface="+mn-ea"/>
        <a:cs typeface="+mn-cs"/>
      </a:defRPr>
    </a:lvl5pPr>
    <a:lvl6pPr marL="2285717" algn="l" defTabSz="914287" rtl="0" eaLnBrk="1" latinLnBrk="0" hangingPunct="1">
      <a:defRPr sz="1800" kern="1200">
        <a:solidFill>
          <a:schemeClr val="tx1"/>
        </a:solidFill>
        <a:latin typeface="+mn-lt"/>
        <a:ea typeface="+mn-ea"/>
        <a:cs typeface="+mn-cs"/>
      </a:defRPr>
    </a:lvl6pPr>
    <a:lvl7pPr marL="2742860" algn="l" defTabSz="914287" rtl="0" eaLnBrk="1" latinLnBrk="0" hangingPunct="1">
      <a:defRPr sz="1800" kern="1200">
        <a:solidFill>
          <a:schemeClr val="tx1"/>
        </a:solidFill>
        <a:latin typeface="+mn-lt"/>
        <a:ea typeface="+mn-ea"/>
        <a:cs typeface="+mn-cs"/>
      </a:defRPr>
    </a:lvl7pPr>
    <a:lvl8pPr marL="3200003" algn="l" defTabSz="914287" rtl="0" eaLnBrk="1" latinLnBrk="0" hangingPunct="1">
      <a:defRPr sz="1800" kern="1200">
        <a:solidFill>
          <a:schemeClr val="tx1"/>
        </a:solidFill>
        <a:latin typeface="+mn-lt"/>
        <a:ea typeface="+mn-ea"/>
        <a:cs typeface="+mn-cs"/>
      </a:defRPr>
    </a:lvl8pPr>
    <a:lvl9pPr marL="3657146" algn="l" defTabSz="914287"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3FFCD"/>
    <a:srgbClr val="005828"/>
    <a:srgbClr val="006C31"/>
    <a:srgbClr val="00F26D"/>
    <a:srgbClr val="FF9966"/>
    <a:srgbClr val="FFCC99"/>
  </p:clrMru>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75DCB02-9BB8-47FD-8907-85C794F793BA}" styleName="Style à thème 1 - Accentuation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84E427A-3D55-4303-BF80-6455036E1DE7}" styleName="Style à thème 1 - Accentuation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50" d="100"/>
          <a:sy n="150" d="100"/>
        </p:scale>
        <p:origin x="-78" y="1632"/>
      </p:cViewPr>
      <p:guideLst>
        <p:guide orient="horz" pos="2160"/>
        <p:guide pos="312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8" name="Titre 7"/>
          <p:cNvSpPr>
            <a:spLocks noGrp="1"/>
          </p:cNvSpPr>
          <p:nvPr>
            <p:ph type="ctrTitle"/>
          </p:nvPr>
        </p:nvSpPr>
        <p:spPr>
          <a:xfrm>
            <a:off x="457199" y="1371600"/>
            <a:ext cx="8915400" cy="1828800"/>
          </a:xfrm>
        </p:spPr>
        <p:txBody>
          <a:bodyPr vert="horz" lIns="45714" tIns="0" rIns="45714" bIns="0" anchor="b">
            <a:normAutofit/>
            <a:scene3d>
              <a:camera prst="orthographicFront"/>
              <a:lightRig rig="soft" dir="t">
                <a:rot lat="0" lon="0" rev="17220000"/>
              </a:lightRig>
            </a:scene3d>
            <a:sp3d prstMaterial="softEdge">
              <a:bevelT w="38100" h="38100"/>
            </a:sp3d>
          </a:bodyPr>
          <a:lstStyle>
            <a:lvl1pPr>
              <a:defRPr sz="4800" b="1" cap="all"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27000" dist="200000" dir="2700000" algn="tl" rotWithShape="0">
                    <a:srgbClr val="000000">
                      <a:alpha val="30000"/>
                    </a:srgbClr>
                  </a:outerShdw>
                </a:effectLst>
              </a:defRPr>
            </a:lvl1pPr>
          </a:lstStyle>
          <a:p>
            <a:r>
              <a:rPr kumimoji="0" lang="fr-FR" smtClean="0"/>
              <a:t>Cliquez pour modifier le style du titre</a:t>
            </a:r>
            <a:endParaRPr kumimoji="0" lang="en-US"/>
          </a:p>
        </p:txBody>
      </p:sp>
      <p:sp>
        <p:nvSpPr>
          <p:cNvPr id="28" name="Espace réservé de la date 27"/>
          <p:cNvSpPr>
            <a:spLocks noGrp="1"/>
          </p:cNvSpPr>
          <p:nvPr>
            <p:ph type="dt" sz="half" idx="10"/>
          </p:nvPr>
        </p:nvSpPr>
        <p:spPr/>
        <p:txBody>
          <a:bodyPr/>
          <a:lstStyle/>
          <a:p>
            <a:fld id="{B7DED823-DFAB-493B-AC1C-667059E4A826}" type="datetimeFigureOut">
              <a:rPr lang="fr-FR" smtClean="0"/>
              <a:pPr/>
              <a:t>09/12/2014</a:t>
            </a:fld>
            <a:endParaRPr lang="fr-FR"/>
          </a:p>
        </p:txBody>
      </p:sp>
      <p:sp>
        <p:nvSpPr>
          <p:cNvPr id="17" name="Espace réservé du pied de page 16"/>
          <p:cNvSpPr>
            <a:spLocks noGrp="1"/>
          </p:cNvSpPr>
          <p:nvPr>
            <p:ph type="ftr" sz="quarter" idx="11"/>
          </p:nvPr>
        </p:nvSpPr>
        <p:spPr/>
        <p:txBody>
          <a:bodyPr/>
          <a:lstStyle/>
          <a:p>
            <a:endParaRPr lang="fr-FR"/>
          </a:p>
        </p:txBody>
      </p:sp>
      <p:sp>
        <p:nvSpPr>
          <p:cNvPr id="29" name="Espace réservé du numéro de diapositive 28"/>
          <p:cNvSpPr>
            <a:spLocks noGrp="1"/>
          </p:cNvSpPr>
          <p:nvPr>
            <p:ph type="sldNum" sz="quarter" idx="12"/>
          </p:nvPr>
        </p:nvSpPr>
        <p:spPr/>
        <p:txBody>
          <a:bodyPr/>
          <a:lstStyle/>
          <a:p>
            <a:fld id="{D8B19808-6EE3-4F4E-AE4E-47A8F37A9648}" type="slidenum">
              <a:rPr lang="fr-FR" smtClean="0"/>
              <a:pPr/>
              <a:t>‹N°›</a:t>
            </a:fld>
            <a:endParaRPr lang="fr-FR"/>
          </a:p>
        </p:txBody>
      </p:sp>
      <p:sp>
        <p:nvSpPr>
          <p:cNvPr id="9" name="Sous-titre 8"/>
          <p:cNvSpPr>
            <a:spLocks noGrp="1"/>
          </p:cNvSpPr>
          <p:nvPr>
            <p:ph type="subTitle" idx="1"/>
          </p:nvPr>
        </p:nvSpPr>
        <p:spPr>
          <a:xfrm>
            <a:off x="1485900" y="3331698"/>
            <a:ext cx="6934200" cy="1752600"/>
          </a:xfrm>
        </p:spPr>
        <p:txBody>
          <a:bodyPr/>
          <a:lstStyle>
            <a:lvl1pPr marL="0" indent="0" algn="ctr">
              <a:buNone/>
              <a:defRPr>
                <a:solidFill>
                  <a:schemeClr val="tx1"/>
                </a:solidFill>
              </a:defRPr>
            </a:lvl1pPr>
            <a:lvl2pPr marL="457144" indent="0" algn="ctr">
              <a:buNone/>
            </a:lvl2pPr>
            <a:lvl3pPr marL="914287" indent="0" algn="ctr">
              <a:buNone/>
            </a:lvl3pPr>
            <a:lvl4pPr marL="1371430" indent="0" algn="ctr">
              <a:buNone/>
            </a:lvl4pPr>
            <a:lvl5pPr marL="1828573" indent="0" algn="ctr">
              <a:buNone/>
            </a:lvl5pPr>
            <a:lvl6pPr marL="2285717" indent="0" algn="ctr">
              <a:buNone/>
            </a:lvl6pPr>
            <a:lvl7pPr marL="2742860" indent="0" algn="ctr">
              <a:buNone/>
            </a:lvl7pPr>
            <a:lvl8pPr marL="3200003" indent="0" algn="ctr">
              <a:buNone/>
            </a:lvl8pPr>
            <a:lvl9pPr marL="3657146" indent="0" algn="ctr">
              <a:buNone/>
            </a:lvl9pPr>
          </a:lstStyle>
          <a:p>
            <a:r>
              <a:rPr kumimoji="0" lang="fr-FR" smtClean="0"/>
              <a:t>Cliquez pour modifier le style des sous-titres du masque</a:t>
            </a:r>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u contenu 2"/>
          <p:cNvSpPr>
            <a:spLocks noGrp="1"/>
          </p:cNvSpPr>
          <p:nvPr>
            <p:ph idx="1"/>
          </p:nvPr>
        </p:nvSpPr>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B7DED823-DFAB-493B-AC1C-667059E4A826}" type="datetimeFigureOut">
              <a:rPr lang="fr-FR" smtClean="0"/>
              <a:pPr/>
              <a:t>09/12/2014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D8B19808-6EE3-4F4E-AE4E-47A8F37A9648}" type="slidenum">
              <a:rPr lang="fr-FR" smtClean="0"/>
              <a:pPr/>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bg>
      <p:bgRef idx="1003">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a:xfrm>
            <a:off x="1733550" y="609600"/>
            <a:ext cx="7677150" cy="1828800"/>
          </a:xfrm>
        </p:spPr>
        <p:txBody>
          <a:bodyPr vert="horz" bIns="0" anchor="b">
            <a:noAutofit/>
            <a:scene3d>
              <a:camera prst="orthographicFront"/>
              <a:lightRig rig="soft" dir="t">
                <a:rot lat="0" lon="0" rev="17220000"/>
              </a:lightRig>
            </a:scene3d>
            <a:sp3d prstMaterial="softEdge">
              <a:bevelT w="38100" h="38100"/>
              <a:contourClr>
                <a:schemeClr val="tx2">
                  <a:shade val="50000"/>
                </a:schemeClr>
              </a:contourClr>
            </a:sp3d>
          </a:bodyPr>
          <a:lstStyle>
            <a:lvl1pPr algn="l" rtl="0">
              <a:spcBef>
                <a:spcPct val="0"/>
              </a:spcBef>
              <a:buNone/>
              <a:defRPr sz="4800" b="1" cap="none" baseline="0">
                <a:ln w="6350">
                  <a:noFill/>
                </a:ln>
                <a:solidFill>
                  <a:schemeClr val="accent1">
                    <a:tint val="90000"/>
                    <a:satMod val="120000"/>
                  </a:schemeClr>
                </a:solidFill>
                <a:effectLst>
                  <a:outerShdw blurRad="114300" dist="101600" dir="2700000" algn="tl" rotWithShape="0">
                    <a:srgbClr val="000000">
                      <a:alpha val="40000"/>
                    </a:srgbClr>
                  </a:outerShdw>
                </a:effectLst>
                <a:latin typeface="+mj-lt"/>
                <a:ea typeface="+mj-ea"/>
                <a:cs typeface="+mj-cs"/>
              </a:defRPr>
            </a:lvl1pPr>
          </a:lstStyle>
          <a:p>
            <a:r>
              <a:rPr kumimoji="0" lang="fr-FR" smtClean="0"/>
              <a:t>Cliquez pour modifier le style du titre</a:t>
            </a:r>
            <a:endParaRPr kumimoji="0" lang="en-US"/>
          </a:p>
        </p:txBody>
      </p:sp>
      <p:sp>
        <p:nvSpPr>
          <p:cNvPr id="3" name="Espace réservé du texte 2"/>
          <p:cNvSpPr>
            <a:spLocks noGrp="1"/>
          </p:cNvSpPr>
          <p:nvPr>
            <p:ph type="body" idx="1"/>
          </p:nvPr>
        </p:nvSpPr>
        <p:spPr>
          <a:xfrm>
            <a:off x="1733550" y="2507786"/>
            <a:ext cx="7677150" cy="1509712"/>
          </a:xfrm>
        </p:spPr>
        <p:txBody>
          <a:bodyPr anchor="t"/>
          <a:lstStyle>
            <a:lvl1pPr marL="73143" indent="0" algn="l">
              <a:buNone/>
              <a:defRPr sz="20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fr-FR" smtClean="0"/>
              <a:t>Cliquez pour modifier les styles du texte du masque</a:t>
            </a:r>
          </a:p>
        </p:txBody>
      </p:sp>
      <p:sp>
        <p:nvSpPr>
          <p:cNvPr id="4" name="Espace réservé de la date 3"/>
          <p:cNvSpPr>
            <a:spLocks noGrp="1"/>
          </p:cNvSpPr>
          <p:nvPr>
            <p:ph type="dt" sz="half" idx="10"/>
          </p:nvPr>
        </p:nvSpPr>
        <p:spPr/>
        <p:txBody>
          <a:bodyPr/>
          <a:lstStyle/>
          <a:p>
            <a:fld id="{B7DED823-DFAB-493B-AC1C-667059E4A826}" type="datetimeFigureOut">
              <a:rPr lang="fr-FR" smtClean="0"/>
              <a:pPr/>
              <a:t>09/12/2014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a:xfrm>
            <a:off x="8585200" y="6416677"/>
            <a:ext cx="825500" cy="365125"/>
          </a:xfrm>
        </p:spPr>
        <p:txBody>
          <a:bodyPr/>
          <a:lstStyle/>
          <a:p>
            <a:fld id="{D8B19808-6EE3-4F4E-AE4E-47A8F37A9648}" type="slidenum">
              <a:rPr lang="fr-FR" smtClean="0"/>
              <a:pPr/>
              <a:t>‹N°›</a:t>
            </a:fld>
            <a:endParaRPr lang="fr-FR"/>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u contenu 2"/>
          <p:cNvSpPr>
            <a:spLocks noGrp="1"/>
          </p:cNvSpPr>
          <p:nvPr>
            <p:ph sz="half" idx="1"/>
          </p:nvPr>
        </p:nvSpPr>
        <p:spPr>
          <a:xfrm>
            <a:off x="495300" y="1600202"/>
            <a:ext cx="437515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u contenu 3"/>
          <p:cNvSpPr>
            <a:spLocks noGrp="1"/>
          </p:cNvSpPr>
          <p:nvPr>
            <p:ph sz="half" idx="2"/>
          </p:nvPr>
        </p:nvSpPr>
        <p:spPr>
          <a:xfrm>
            <a:off x="5035550" y="1600202"/>
            <a:ext cx="437515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5" name="Espace réservé de la date 4"/>
          <p:cNvSpPr>
            <a:spLocks noGrp="1"/>
          </p:cNvSpPr>
          <p:nvPr>
            <p:ph type="dt" sz="half" idx="10"/>
          </p:nvPr>
        </p:nvSpPr>
        <p:spPr/>
        <p:txBody>
          <a:bodyPr/>
          <a:lstStyle/>
          <a:p>
            <a:fld id="{B7DED823-DFAB-493B-AC1C-667059E4A826}" type="datetimeFigureOut">
              <a:rPr lang="fr-FR" smtClean="0"/>
              <a:pPr/>
              <a:t>09/12/2014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D8B19808-6EE3-4F4E-AE4E-47A8F37A9648}" type="slidenum">
              <a:rPr lang="fr-FR" smtClean="0"/>
              <a:pPr/>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95300" y="273050"/>
            <a:ext cx="8915400" cy="1143000"/>
          </a:xfrm>
        </p:spPr>
        <p:txBody>
          <a:bodyPr anchor="ctr"/>
          <a:lstStyle>
            <a:lvl1pPr>
              <a:defRPr/>
            </a:lvl1pPr>
          </a:lstStyle>
          <a:p>
            <a:r>
              <a:rPr kumimoji="0" lang="fr-FR" smtClean="0"/>
              <a:t>Cliquez pour modifier le style du titre</a:t>
            </a:r>
            <a:endParaRPr kumimoji="0" lang="en-US"/>
          </a:p>
        </p:txBody>
      </p:sp>
      <p:sp>
        <p:nvSpPr>
          <p:cNvPr id="3" name="Espace réservé du texte 2"/>
          <p:cNvSpPr>
            <a:spLocks noGrp="1"/>
          </p:cNvSpPr>
          <p:nvPr>
            <p:ph type="body" idx="1"/>
          </p:nvPr>
        </p:nvSpPr>
        <p:spPr>
          <a:xfrm>
            <a:off x="495300" y="1535114"/>
            <a:ext cx="4376870"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fr-FR" smtClean="0"/>
              <a:t>Cliquez pour modifier les styles du texte du masque</a:t>
            </a:r>
          </a:p>
        </p:txBody>
      </p:sp>
      <p:sp>
        <p:nvSpPr>
          <p:cNvPr id="4" name="Espace réservé du texte 3"/>
          <p:cNvSpPr>
            <a:spLocks noGrp="1"/>
          </p:cNvSpPr>
          <p:nvPr>
            <p:ph type="body" sz="half" idx="3"/>
          </p:nvPr>
        </p:nvSpPr>
        <p:spPr>
          <a:xfrm>
            <a:off x="5032112" y="1535114"/>
            <a:ext cx="4378590"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fr-FR" smtClean="0"/>
              <a:t>Cliquez pour modifier les styles du texte du masque</a:t>
            </a:r>
          </a:p>
        </p:txBody>
      </p:sp>
      <p:sp>
        <p:nvSpPr>
          <p:cNvPr id="5" name="Espace réservé du contenu 4"/>
          <p:cNvSpPr>
            <a:spLocks noGrp="1"/>
          </p:cNvSpPr>
          <p:nvPr>
            <p:ph sz="quarter" idx="2"/>
          </p:nvPr>
        </p:nvSpPr>
        <p:spPr>
          <a:xfrm>
            <a:off x="495300" y="2362202"/>
            <a:ext cx="4376870"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6" name="Espace réservé du contenu 5"/>
          <p:cNvSpPr>
            <a:spLocks noGrp="1"/>
          </p:cNvSpPr>
          <p:nvPr>
            <p:ph sz="quarter" idx="4"/>
          </p:nvPr>
        </p:nvSpPr>
        <p:spPr>
          <a:xfrm>
            <a:off x="5032112" y="2362202"/>
            <a:ext cx="4378590"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7" name="Espace réservé de la date 6"/>
          <p:cNvSpPr>
            <a:spLocks noGrp="1"/>
          </p:cNvSpPr>
          <p:nvPr>
            <p:ph type="dt" sz="half" idx="10"/>
          </p:nvPr>
        </p:nvSpPr>
        <p:spPr/>
        <p:txBody>
          <a:bodyPr/>
          <a:lstStyle/>
          <a:p>
            <a:fld id="{B7DED823-DFAB-493B-AC1C-667059E4A826}" type="datetimeFigureOut">
              <a:rPr lang="fr-FR" smtClean="0"/>
              <a:pPr/>
              <a:t>09/12/2014</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D8B19808-6EE3-4F4E-AE4E-47A8F37A9648}" type="slidenum">
              <a:rPr lang="fr-FR" smtClean="0"/>
              <a:pPr/>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e la date 2"/>
          <p:cNvSpPr>
            <a:spLocks noGrp="1"/>
          </p:cNvSpPr>
          <p:nvPr>
            <p:ph type="dt" sz="half" idx="10"/>
          </p:nvPr>
        </p:nvSpPr>
        <p:spPr/>
        <p:txBody>
          <a:bodyPr/>
          <a:lstStyle/>
          <a:p>
            <a:fld id="{B7DED823-DFAB-493B-AC1C-667059E4A826}" type="datetimeFigureOut">
              <a:rPr lang="fr-FR" smtClean="0"/>
              <a:pPr/>
              <a:t>09/12/2014</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D8B19808-6EE3-4F4E-AE4E-47A8F37A9648}" type="slidenum">
              <a:rPr lang="fr-FR" smtClean="0"/>
              <a:pP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B7DED823-DFAB-493B-AC1C-667059E4A826}" type="datetimeFigureOut">
              <a:rPr lang="fr-FR" smtClean="0"/>
              <a:pPr/>
              <a:t>09/12/2014</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D8B19808-6EE3-4F4E-AE4E-47A8F37A9648}" type="slidenum">
              <a:rPr lang="fr-FR" smtClean="0"/>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95300" y="273050"/>
            <a:ext cx="3259006" cy="1162050"/>
          </a:xfrm>
        </p:spPr>
        <p:txBody>
          <a:bodyPr vert="horz" anchor="b">
            <a:normAutofit/>
            <a:sp3d prstMaterial="softEdge"/>
          </a:bodyPr>
          <a:lstStyle>
            <a:lvl1pPr algn="l">
              <a:buNone/>
              <a:defRPr sz="2200" b="0">
                <a:ln w="6350">
                  <a:noFill/>
                </a:ln>
                <a:solidFill>
                  <a:schemeClr val="accent1">
                    <a:tint val="73000"/>
                    <a:satMod val="180000"/>
                  </a:schemeClr>
                </a:solidFill>
              </a:defRPr>
            </a:lvl1pPr>
          </a:lstStyle>
          <a:p>
            <a:r>
              <a:rPr kumimoji="0" lang="fr-FR" smtClean="0"/>
              <a:t>Cliquez pour modifier le style du titre</a:t>
            </a:r>
            <a:endParaRPr kumimoji="0" lang="en-US"/>
          </a:p>
        </p:txBody>
      </p:sp>
      <p:sp>
        <p:nvSpPr>
          <p:cNvPr id="3" name="Espace réservé du texte 2"/>
          <p:cNvSpPr>
            <a:spLocks noGrp="1"/>
          </p:cNvSpPr>
          <p:nvPr>
            <p:ph type="body" idx="2"/>
          </p:nvPr>
        </p:nvSpPr>
        <p:spPr>
          <a:xfrm>
            <a:off x="495300" y="1524002"/>
            <a:ext cx="3259006" cy="4602163"/>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fr-FR" smtClean="0"/>
              <a:t>Cliquez pour modifier les styles du texte du masque</a:t>
            </a:r>
          </a:p>
        </p:txBody>
      </p:sp>
      <p:sp>
        <p:nvSpPr>
          <p:cNvPr id="4" name="Espace réservé du contenu 3"/>
          <p:cNvSpPr>
            <a:spLocks noGrp="1"/>
          </p:cNvSpPr>
          <p:nvPr>
            <p:ph sz="half" idx="1"/>
          </p:nvPr>
        </p:nvSpPr>
        <p:spPr>
          <a:xfrm>
            <a:off x="3872972" y="273052"/>
            <a:ext cx="5537729" cy="5853113"/>
          </a:xfrm>
        </p:spPr>
        <p:txBody>
          <a:bodyPr/>
          <a:lstStyle>
            <a:lvl1pPr>
              <a:defRPr sz="2600"/>
            </a:lvl1pPr>
            <a:lvl2pPr>
              <a:defRPr sz="2400"/>
            </a:lvl2pPr>
            <a:lvl3pPr>
              <a:defRPr sz="2200"/>
            </a:lvl3pPr>
            <a:lvl4pPr>
              <a:defRPr sz="2000"/>
            </a:lvl4pPr>
            <a:lvl5pPr>
              <a:defRPr sz="1800"/>
            </a:lvl5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5" name="Espace réservé de la date 4"/>
          <p:cNvSpPr>
            <a:spLocks noGrp="1"/>
          </p:cNvSpPr>
          <p:nvPr>
            <p:ph type="dt" sz="half" idx="10"/>
          </p:nvPr>
        </p:nvSpPr>
        <p:spPr/>
        <p:txBody>
          <a:bodyPr/>
          <a:lstStyle/>
          <a:p>
            <a:fld id="{B7DED823-DFAB-493B-AC1C-667059E4A826}" type="datetimeFigureOut">
              <a:rPr lang="fr-FR" smtClean="0"/>
              <a:pPr/>
              <a:t>09/12/2014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D8B19808-6EE3-4F4E-AE4E-47A8F37A9648}" type="slidenum">
              <a:rPr lang="fr-FR" smtClean="0"/>
              <a:pPr/>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981200" y="609600"/>
            <a:ext cx="5943600" cy="522288"/>
          </a:xfrm>
        </p:spPr>
        <p:txBody>
          <a:bodyPr lIns="45714" rIns="45714" bIns="0" anchor="b">
            <a:sp3d prstMaterial="softEdge"/>
          </a:bodyPr>
          <a:lstStyle>
            <a:lvl1pPr algn="ctr">
              <a:buNone/>
              <a:defRPr sz="2000" b="1"/>
            </a:lvl1pPr>
          </a:lstStyle>
          <a:p>
            <a:r>
              <a:rPr kumimoji="0" lang="fr-FR" smtClean="0"/>
              <a:t>Cliquez pour modifier le style du titre</a:t>
            </a:r>
            <a:endParaRPr kumimoji="0" lang="en-US"/>
          </a:p>
        </p:txBody>
      </p:sp>
      <p:sp>
        <p:nvSpPr>
          <p:cNvPr id="3" name="Espace réservé pour une image  2"/>
          <p:cNvSpPr>
            <a:spLocks noGrp="1"/>
          </p:cNvSpPr>
          <p:nvPr>
            <p:ph type="pic" idx="1"/>
          </p:nvPr>
        </p:nvSpPr>
        <p:spPr>
          <a:xfrm>
            <a:off x="1981200" y="1831975"/>
            <a:ext cx="5943600" cy="3962400"/>
          </a:xfrm>
          <a:solidFill>
            <a:schemeClr val="bg2"/>
          </a:solidFill>
          <a:ln w="44450" cap="sq" cmpd="sng" algn="ctr">
            <a:solidFill>
              <a:srgbClr val="FFFFFF"/>
            </a:solidFill>
            <a:prstDash val="solid"/>
            <a:miter lim="800000"/>
          </a:ln>
          <a:effectLst>
            <a:outerShdw blurRad="190500" dist="228600" dir="2700000" sy="90000">
              <a:srgbClr val="000000">
                <a:alpha val="25000"/>
              </a:srgbClr>
            </a:outerShdw>
          </a:effectLst>
          <a:scene3d>
            <a:camera prst="orthographicFront">
              <a:rot lat="0" lon="0" rev="0"/>
            </a:camera>
            <a:lightRig rig="balanced" dir="tr">
              <a:rot lat="0" lon="0" rev="2700000"/>
            </a:lightRig>
          </a:scene3d>
          <a:sp3d prstMaterial="matte">
            <a:contourClr>
              <a:schemeClr val="tx2">
                <a:shade val="50000"/>
              </a:schemeClr>
            </a:contourClr>
          </a:sp3d>
        </p:spPr>
        <p:style>
          <a:lnRef idx="3">
            <a:schemeClr val="lt1"/>
          </a:lnRef>
          <a:fillRef idx="1">
            <a:schemeClr val="accent1"/>
          </a:fillRef>
          <a:effectRef idx="1">
            <a:schemeClr val="accent1"/>
          </a:effectRef>
          <a:fontRef idx="minor">
            <a:schemeClr val="lt1"/>
          </a:fontRef>
        </p:style>
        <p:txBody>
          <a:bodyPr anchor="t"/>
          <a:lstStyle>
            <a:lvl1pPr marL="0" indent="0" algn="l" rtl="0" eaLnBrk="1" latinLnBrk="0" hangingPunct="1">
              <a:buNone/>
              <a:defRPr sz="3200"/>
            </a:lvl1pPr>
          </a:lstStyle>
          <a:p>
            <a:pPr marL="0" algn="l" rtl="0" eaLnBrk="1" latinLnBrk="0" hangingPunct="1"/>
            <a:r>
              <a:rPr kumimoji="0" lang="fr-FR" dirty="0" smtClean="0">
                <a:solidFill>
                  <a:schemeClr val="lt1"/>
                </a:solidFill>
                <a:latin typeface="+mn-lt"/>
                <a:ea typeface="+mn-ea"/>
                <a:cs typeface="+mn-cs"/>
              </a:rPr>
              <a:t>Cliquez sur l'icône pour ajouter une image</a:t>
            </a:r>
            <a:endParaRPr kumimoji="0" lang="en-US" dirty="0">
              <a:solidFill>
                <a:schemeClr val="lt1"/>
              </a:solidFill>
              <a:latin typeface="+mn-lt"/>
              <a:ea typeface="+mn-ea"/>
              <a:cs typeface="+mn-cs"/>
            </a:endParaRPr>
          </a:p>
        </p:txBody>
      </p:sp>
      <p:sp>
        <p:nvSpPr>
          <p:cNvPr id="4" name="Espace réservé du texte 3"/>
          <p:cNvSpPr>
            <a:spLocks noGrp="1"/>
          </p:cNvSpPr>
          <p:nvPr>
            <p:ph type="body" sz="half" idx="2"/>
          </p:nvPr>
        </p:nvSpPr>
        <p:spPr>
          <a:xfrm>
            <a:off x="1981200" y="1166787"/>
            <a:ext cx="5943600" cy="530352"/>
          </a:xfrm>
        </p:spPr>
        <p:txBody>
          <a:bodyPr lIns="45714" tIns="45714" rIns="45714" anchor="t"/>
          <a:lstStyle>
            <a:lvl1pPr marL="0" indent="0" algn="ctr">
              <a:buNone/>
              <a:defRPr sz="1400"/>
            </a:lvl1pPr>
            <a:lvl2pPr>
              <a:defRPr sz="1200"/>
            </a:lvl2pPr>
            <a:lvl3pPr>
              <a:defRPr sz="1000"/>
            </a:lvl3pPr>
            <a:lvl4pPr>
              <a:defRPr sz="900"/>
            </a:lvl4pPr>
            <a:lvl5pPr>
              <a:defRPr sz="900"/>
            </a:lvl5pPr>
          </a:lstStyle>
          <a:p>
            <a:pPr lvl="0" eaLnBrk="1" latinLnBrk="0" hangingPunct="1"/>
            <a:r>
              <a:rPr kumimoji="0" lang="fr-FR" smtClean="0"/>
              <a:t>Cliquez pour modifier les styles du texte du masque</a:t>
            </a:r>
          </a:p>
        </p:txBody>
      </p:sp>
      <p:sp>
        <p:nvSpPr>
          <p:cNvPr id="5" name="Espace réservé de la date 4"/>
          <p:cNvSpPr>
            <a:spLocks noGrp="1"/>
          </p:cNvSpPr>
          <p:nvPr>
            <p:ph type="dt" sz="half" idx="10"/>
          </p:nvPr>
        </p:nvSpPr>
        <p:spPr/>
        <p:txBody>
          <a:bodyPr/>
          <a:lstStyle/>
          <a:p>
            <a:fld id="{B7DED823-DFAB-493B-AC1C-667059E4A826}" type="datetimeFigureOut">
              <a:rPr lang="fr-FR" smtClean="0"/>
              <a:pPr/>
              <a:t>09/12/2014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D8B19808-6EE3-4F4E-AE4E-47A8F37A9648}" type="slidenum">
              <a:rPr lang="fr-FR" smtClean="0"/>
              <a:pPr/>
              <a:t>‹N°›</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B7DED823-DFAB-493B-AC1C-667059E4A826}" type="datetimeFigureOut">
              <a:rPr lang="fr-FR" smtClean="0"/>
              <a:pPr/>
              <a:t>09/12/2014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D8B19808-6EE3-4F4E-AE4E-47A8F37A9648}" type="slidenum">
              <a:rPr lang="fr-FR" smtClean="0"/>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7181851" y="274640"/>
            <a:ext cx="2228850" cy="5851525"/>
          </a:xfrm>
        </p:spPr>
        <p:txBody>
          <a:bodyPr vert="eaVert"/>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a:xfrm>
            <a:off x="495300" y="274640"/>
            <a:ext cx="6521450" cy="5851525"/>
          </a:xfrm>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B7DED823-DFAB-493B-AC1C-667059E4A826}" type="datetimeFigureOut">
              <a:rPr lang="fr-FR" smtClean="0"/>
              <a:pPr/>
              <a:t>09/12/2014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D8B19808-6EE3-4F4E-AE4E-47A8F37A9648}" type="slidenum">
              <a:rPr lang="fr-FR" smtClean="0"/>
              <a:pPr/>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Espace réservé du titre 21"/>
          <p:cNvSpPr>
            <a:spLocks noGrp="1"/>
          </p:cNvSpPr>
          <p:nvPr>
            <p:ph type="title"/>
          </p:nvPr>
        </p:nvSpPr>
        <p:spPr>
          <a:xfrm>
            <a:off x="495300" y="274638"/>
            <a:ext cx="8915400" cy="1143000"/>
          </a:xfrm>
          <a:prstGeom prst="rect">
            <a:avLst/>
          </a:prstGeom>
        </p:spPr>
        <p:txBody>
          <a:bodyPr vert="horz" lIns="91428" tIns="45714" rIns="91428" bIns="45714" anchor="ctr">
            <a:normAutofit/>
            <a:scene3d>
              <a:camera prst="orthographicFront"/>
              <a:lightRig rig="soft" dir="t">
                <a:rot lat="0" lon="0" rev="16800000"/>
              </a:lightRig>
            </a:scene3d>
            <a:sp3d prstMaterial="softEdge">
              <a:bevelT w="38100" h="38100"/>
            </a:sp3d>
          </a:bodyPr>
          <a:lstStyle/>
          <a:p>
            <a:r>
              <a:rPr kumimoji="0" lang="fr-FR" smtClean="0"/>
              <a:t>Cliquez pour modifier le style du titre</a:t>
            </a:r>
            <a:endParaRPr kumimoji="0" lang="en-US"/>
          </a:p>
        </p:txBody>
      </p:sp>
      <p:sp>
        <p:nvSpPr>
          <p:cNvPr id="13" name="Espace réservé du texte 12"/>
          <p:cNvSpPr>
            <a:spLocks noGrp="1"/>
          </p:cNvSpPr>
          <p:nvPr>
            <p:ph type="body" idx="1"/>
          </p:nvPr>
        </p:nvSpPr>
        <p:spPr>
          <a:xfrm>
            <a:off x="495300" y="1600200"/>
            <a:ext cx="8915400" cy="4709160"/>
          </a:xfrm>
          <a:prstGeom prst="rect">
            <a:avLst/>
          </a:prstGeom>
        </p:spPr>
        <p:txBody>
          <a:bodyPr vert="horz" lIns="91428" tIns="45714" rIns="91428" bIns="45714">
            <a:normAutofit/>
          </a:bodyPr>
          <a:lstStyle/>
          <a:p>
            <a:pPr lvl="0" eaLnBrk="1" latinLnBrk="0" hangingPunct="1"/>
            <a:r>
              <a:rPr kumimoji="0" lang="fr-FR" smtClean="0"/>
              <a:t>Cliquez pour modifier les styles du texte du masque</a:t>
            </a:r>
          </a:p>
          <a:p>
            <a:pPr lvl="1" eaLnBrk="1" latinLnBrk="0" hangingPunct="1"/>
            <a:r>
              <a:rPr kumimoji="0" lang="fr-FR" smtClean="0"/>
              <a:t>Deuxième niveau</a:t>
            </a:r>
          </a:p>
          <a:p>
            <a:pPr lvl="2" eaLnBrk="1" latinLnBrk="0" hangingPunct="1"/>
            <a:r>
              <a:rPr kumimoji="0" lang="fr-FR" smtClean="0"/>
              <a:t>Troisième niveau</a:t>
            </a:r>
          </a:p>
          <a:p>
            <a:pPr lvl="3" eaLnBrk="1" latinLnBrk="0" hangingPunct="1"/>
            <a:r>
              <a:rPr kumimoji="0" lang="fr-FR" smtClean="0"/>
              <a:t>Quatrième niveau</a:t>
            </a:r>
          </a:p>
          <a:p>
            <a:pPr lvl="4" eaLnBrk="1" latinLnBrk="0" hangingPunct="1"/>
            <a:r>
              <a:rPr kumimoji="0" lang="fr-FR" smtClean="0"/>
              <a:t>Cinquième niveau</a:t>
            </a:r>
            <a:endParaRPr kumimoji="0" lang="en-US"/>
          </a:p>
        </p:txBody>
      </p:sp>
      <p:sp>
        <p:nvSpPr>
          <p:cNvPr id="14" name="Espace réservé de la date 13"/>
          <p:cNvSpPr>
            <a:spLocks noGrp="1"/>
          </p:cNvSpPr>
          <p:nvPr>
            <p:ph type="dt" sz="half" idx="2"/>
          </p:nvPr>
        </p:nvSpPr>
        <p:spPr>
          <a:xfrm>
            <a:off x="495300" y="6416677"/>
            <a:ext cx="2311400" cy="365125"/>
          </a:xfrm>
          <a:prstGeom prst="rect">
            <a:avLst/>
          </a:prstGeom>
        </p:spPr>
        <p:txBody>
          <a:bodyPr vert="horz" lIns="91428" tIns="45714" rIns="91428" bIns="45714" anchor="b"/>
          <a:lstStyle>
            <a:lvl1pPr algn="l" eaLnBrk="1" latinLnBrk="0" hangingPunct="1">
              <a:defRPr kumimoji="0" sz="1200">
                <a:solidFill>
                  <a:schemeClr val="tx1">
                    <a:shade val="50000"/>
                  </a:schemeClr>
                </a:solidFill>
              </a:defRPr>
            </a:lvl1pPr>
          </a:lstStyle>
          <a:p>
            <a:fld id="{B7DED823-DFAB-493B-AC1C-667059E4A826}" type="datetimeFigureOut">
              <a:rPr lang="fr-FR" smtClean="0"/>
              <a:pPr/>
              <a:t>09/12/2014</a:t>
            </a:fld>
            <a:endParaRPr lang="fr-FR"/>
          </a:p>
        </p:txBody>
      </p:sp>
      <p:sp>
        <p:nvSpPr>
          <p:cNvPr id="3" name="Espace réservé du pied de page 2"/>
          <p:cNvSpPr>
            <a:spLocks noGrp="1"/>
          </p:cNvSpPr>
          <p:nvPr>
            <p:ph type="ftr" sz="quarter" idx="3"/>
          </p:nvPr>
        </p:nvSpPr>
        <p:spPr>
          <a:xfrm>
            <a:off x="3384550" y="6416677"/>
            <a:ext cx="3136900" cy="365125"/>
          </a:xfrm>
          <a:prstGeom prst="rect">
            <a:avLst/>
          </a:prstGeom>
        </p:spPr>
        <p:txBody>
          <a:bodyPr vert="horz" lIns="91428" tIns="45714" rIns="91428" bIns="45714" anchor="b"/>
          <a:lstStyle>
            <a:lvl1pPr algn="ctr" eaLnBrk="1" latinLnBrk="0" hangingPunct="1">
              <a:defRPr kumimoji="0" sz="1200">
                <a:solidFill>
                  <a:schemeClr val="tx1">
                    <a:shade val="50000"/>
                  </a:schemeClr>
                </a:solidFill>
              </a:defRPr>
            </a:lvl1pPr>
          </a:lstStyle>
          <a:p>
            <a:endParaRPr lang="fr-FR"/>
          </a:p>
        </p:txBody>
      </p:sp>
      <p:sp>
        <p:nvSpPr>
          <p:cNvPr id="23" name="Espace réservé du numéro de diapositive 22"/>
          <p:cNvSpPr>
            <a:spLocks noGrp="1"/>
          </p:cNvSpPr>
          <p:nvPr>
            <p:ph type="sldNum" sz="quarter" idx="4"/>
          </p:nvPr>
        </p:nvSpPr>
        <p:spPr>
          <a:xfrm>
            <a:off x="8585200" y="6416677"/>
            <a:ext cx="825500" cy="365125"/>
          </a:xfrm>
          <a:prstGeom prst="rect">
            <a:avLst/>
          </a:prstGeom>
        </p:spPr>
        <p:txBody>
          <a:bodyPr vert="horz" lIns="0" tIns="45714" rIns="0" bIns="45714" anchor="b"/>
          <a:lstStyle>
            <a:lvl1pPr algn="r" eaLnBrk="1" latinLnBrk="0" hangingPunct="1">
              <a:defRPr kumimoji="0" sz="1200">
                <a:solidFill>
                  <a:schemeClr val="tx1">
                    <a:shade val="50000"/>
                  </a:schemeClr>
                </a:solidFill>
              </a:defRPr>
            </a:lvl1pPr>
          </a:lstStyle>
          <a:p>
            <a:fld id="{D8B19808-6EE3-4F4E-AE4E-47A8F37A9648}" type="slidenum">
              <a:rPr lang="fr-FR" smtClean="0"/>
              <a:pPr/>
              <a:t>‹N°›</a:t>
            </a:fld>
            <a:endParaRPr lang="fr-FR"/>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1" latinLnBrk="0" hangingPunct="1">
        <a:spcBef>
          <a:spcPct val="0"/>
        </a:spcBef>
        <a:buNone/>
        <a:defRPr kumimoji="0" sz="4100" b="1" kern="1200" cap="none"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latin typeface="+mj-lt"/>
          <a:ea typeface="+mj-ea"/>
          <a:cs typeface="+mj-cs"/>
        </a:defRPr>
      </a:lvl1pPr>
    </p:titleStyle>
    <p:bodyStyle>
      <a:lvl1pPr marL="548572" indent="-411429" algn="l" rtl="0" eaLnBrk="1" latinLnBrk="0" hangingPunct="1">
        <a:spcBef>
          <a:spcPct val="20000"/>
        </a:spcBef>
        <a:buClr>
          <a:schemeClr val="tx1">
            <a:shade val="95000"/>
          </a:schemeClr>
        </a:buClr>
        <a:buSzPct val="65000"/>
        <a:buFont typeface="Wingdings 2"/>
        <a:buChar char=""/>
        <a:defRPr kumimoji="0" sz="2800" kern="1200">
          <a:solidFill>
            <a:schemeClr val="tx1"/>
          </a:solidFill>
          <a:latin typeface="+mn-lt"/>
          <a:ea typeface="+mn-ea"/>
          <a:cs typeface="+mn-cs"/>
        </a:defRPr>
      </a:lvl1pPr>
      <a:lvl2pPr marL="868572" indent="-283429" algn="l" rtl="0" eaLnBrk="1" latinLnBrk="0" hangingPunct="1">
        <a:spcBef>
          <a:spcPct val="20000"/>
        </a:spcBef>
        <a:buClr>
          <a:schemeClr val="tx1"/>
        </a:buClr>
        <a:buSzPct val="80000"/>
        <a:buFont typeface="Wingdings 2"/>
        <a:buChar char=""/>
        <a:defRPr kumimoji="0" sz="2400" kern="1200">
          <a:solidFill>
            <a:schemeClr val="tx1"/>
          </a:solidFill>
          <a:latin typeface="+mn-lt"/>
          <a:ea typeface="+mn-ea"/>
          <a:cs typeface="+mn-cs"/>
        </a:defRPr>
      </a:lvl2pPr>
      <a:lvl3pPr marL="1133716" indent="-228572" algn="l" rtl="0" eaLnBrk="1" latinLnBrk="0" hangingPunct="1">
        <a:spcBef>
          <a:spcPct val="20000"/>
        </a:spcBef>
        <a:buClr>
          <a:schemeClr val="tx1"/>
        </a:buClr>
        <a:buSzPct val="95000"/>
        <a:buFont typeface="Wingdings"/>
        <a:buChar char=""/>
        <a:defRPr kumimoji="0" sz="2200" kern="1200">
          <a:solidFill>
            <a:schemeClr val="tx1"/>
          </a:solidFill>
          <a:latin typeface="+mn-lt"/>
          <a:ea typeface="+mn-ea"/>
          <a:cs typeface="+mn-cs"/>
        </a:defRPr>
      </a:lvl3pPr>
      <a:lvl4pPr marL="1353144" indent="-182858" algn="l" rtl="0" eaLnBrk="1" latinLnBrk="0" hangingPunct="1">
        <a:spcBef>
          <a:spcPct val="20000"/>
        </a:spcBef>
        <a:buClr>
          <a:schemeClr val="tx1"/>
        </a:buClr>
        <a:buSzPct val="100000"/>
        <a:buFont typeface="Wingdings 3"/>
        <a:buChar char=""/>
        <a:defRPr kumimoji="0" sz="2000" kern="1200">
          <a:solidFill>
            <a:schemeClr val="tx1"/>
          </a:solidFill>
          <a:latin typeface="+mn-lt"/>
          <a:ea typeface="+mn-ea"/>
          <a:cs typeface="+mn-cs"/>
        </a:defRPr>
      </a:lvl4pPr>
      <a:lvl5pPr marL="1545144" indent="-182858" algn="l" rtl="0" eaLnBrk="1" latinLnBrk="0" hangingPunct="1">
        <a:spcBef>
          <a:spcPct val="20000"/>
        </a:spcBef>
        <a:buClr>
          <a:schemeClr val="tx1"/>
        </a:buClr>
        <a:buFont typeface="Wingdings 2"/>
        <a:buChar char=""/>
        <a:defRPr kumimoji="0" sz="2000" kern="1200">
          <a:solidFill>
            <a:schemeClr val="tx1"/>
          </a:solidFill>
          <a:latin typeface="+mn-lt"/>
          <a:ea typeface="+mn-ea"/>
          <a:cs typeface="+mn-cs"/>
        </a:defRPr>
      </a:lvl5pPr>
      <a:lvl6pPr marL="1764574" indent="-182858" algn="l" rtl="0" eaLnBrk="1" latinLnBrk="0" hangingPunct="1">
        <a:spcBef>
          <a:spcPct val="20000"/>
        </a:spcBef>
        <a:buClr>
          <a:schemeClr val="tx1"/>
        </a:buClr>
        <a:buFont typeface="Wingdings 3"/>
        <a:buChar char=""/>
        <a:defRPr kumimoji="0" sz="1800" kern="1200">
          <a:solidFill>
            <a:schemeClr val="tx1"/>
          </a:solidFill>
          <a:latin typeface="+mn-lt"/>
          <a:ea typeface="+mn-ea"/>
          <a:cs typeface="+mn-cs"/>
        </a:defRPr>
      </a:lvl6pPr>
      <a:lvl7pPr marL="1965717" indent="-182858" algn="l" rtl="0" eaLnBrk="1" latinLnBrk="0" hangingPunct="1">
        <a:spcBef>
          <a:spcPct val="20000"/>
        </a:spcBef>
        <a:buClr>
          <a:schemeClr val="tx1"/>
        </a:buClr>
        <a:buFont typeface="Wingdings 2"/>
        <a:buChar char=""/>
        <a:defRPr kumimoji="0" sz="1600" kern="1200">
          <a:solidFill>
            <a:schemeClr val="tx1"/>
          </a:solidFill>
          <a:latin typeface="+mn-lt"/>
          <a:ea typeface="+mn-ea"/>
          <a:cs typeface="+mn-cs"/>
        </a:defRPr>
      </a:lvl7pPr>
      <a:lvl8pPr marL="2166860" indent="-182858" algn="l" rtl="0" eaLnBrk="1" latinLnBrk="0" hangingPunct="1">
        <a:spcBef>
          <a:spcPct val="20000"/>
        </a:spcBef>
        <a:buClr>
          <a:schemeClr val="tx1"/>
        </a:buClr>
        <a:buFont typeface="Wingdings 2"/>
        <a:buChar char=""/>
        <a:defRPr kumimoji="0" sz="1400" kern="1200">
          <a:solidFill>
            <a:schemeClr val="tx1"/>
          </a:solidFill>
          <a:latin typeface="+mn-lt"/>
          <a:ea typeface="+mn-ea"/>
          <a:cs typeface="+mn-cs"/>
        </a:defRPr>
      </a:lvl8pPr>
      <a:lvl9pPr marL="2368003" indent="-182858" algn="l" rtl="0" eaLnBrk="1" latinLnBrk="0" hangingPunct="1">
        <a:spcBef>
          <a:spcPct val="20000"/>
        </a:spcBef>
        <a:buClr>
          <a:schemeClr val="tx1"/>
        </a:buClr>
        <a:buFont typeface="Wingdings 2"/>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144" algn="l" rtl="0" eaLnBrk="1" latinLnBrk="0" hangingPunct="1">
        <a:defRPr kumimoji="0" kern="1200">
          <a:solidFill>
            <a:schemeClr val="tx1"/>
          </a:solidFill>
          <a:latin typeface="+mn-lt"/>
          <a:ea typeface="+mn-ea"/>
          <a:cs typeface="+mn-cs"/>
        </a:defRPr>
      </a:lvl2pPr>
      <a:lvl3pPr marL="914287" algn="l" rtl="0" eaLnBrk="1" latinLnBrk="0" hangingPunct="1">
        <a:defRPr kumimoji="0" kern="1200">
          <a:solidFill>
            <a:schemeClr val="tx1"/>
          </a:solidFill>
          <a:latin typeface="+mn-lt"/>
          <a:ea typeface="+mn-ea"/>
          <a:cs typeface="+mn-cs"/>
        </a:defRPr>
      </a:lvl3pPr>
      <a:lvl4pPr marL="1371430" algn="l" rtl="0" eaLnBrk="1" latinLnBrk="0" hangingPunct="1">
        <a:defRPr kumimoji="0" kern="1200">
          <a:solidFill>
            <a:schemeClr val="tx1"/>
          </a:solidFill>
          <a:latin typeface="+mn-lt"/>
          <a:ea typeface="+mn-ea"/>
          <a:cs typeface="+mn-cs"/>
        </a:defRPr>
      </a:lvl4pPr>
      <a:lvl5pPr marL="1828573" algn="l" rtl="0" eaLnBrk="1" latinLnBrk="0" hangingPunct="1">
        <a:defRPr kumimoji="0" kern="1200">
          <a:solidFill>
            <a:schemeClr val="tx1"/>
          </a:solidFill>
          <a:latin typeface="+mn-lt"/>
          <a:ea typeface="+mn-ea"/>
          <a:cs typeface="+mn-cs"/>
        </a:defRPr>
      </a:lvl5pPr>
      <a:lvl6pPr marL="2285717" algn="l" rtl="0" eaLnBrk="1" latinLnBrk="0" hangingPunct="1">
        <a:defRPr kumimoji="0" kern="1200">
          <a:solidFill>
            <a:schemeClr val="tx1"/>
          </a:solidFill>
          <a:latin typeface="+mn-lt"/>
          <a:ea typeface="+mn-ea"/>
          <a:cs typeface="+mn-cs"/>
        </a:defRPr>
      </a:lvl6pPr>
      <a:lvl7pPr marL="2742860" algn="l" rtl="0" eaLnBrk="1" latinLnBrk="0" hangingPunct="1">
        <a:defRPr kumimoji="0" kern="1200">
          <a:solidFill>
            <a:schemeClr val="tx1"/>
          </a:solidFill>
          <a:latin typeface="+mn-lt"/>
          <a:ea typeface="+mn-ea"/>
          <a:cs typeface="+mn-cs"/>
        </a:defRPr>
      </a:lvl7pPr>
      <a:lvl8pPr marL="3200003" algn="l" rtl="0" eaLnBrk="1" latinLnBrk="0" hangingPunct="1">
        <a:defRPr kumimoji="0" kern="1200">
          <a:solidFill>
            <a:schemeClr val="tx1"/>
          </a:solidFill>
          <a:latin typeface="+mn-lt"/>
          <a:ea typeface="+mn-ea"/>
          <a:cs typeface="+mn-cs"/>
        </a:defRPr>
      </a:lvl8pPr>
      <a:lvl9pPr marL="3657146"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5.jpeg"/><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1.xml"/><Relationship Id="rId5" Type="http://schemas.openxmlformats.org/officeDocument/2006/relationships/image" Target="../media/image9.jpeg"/><Relationship Id="rId4" Type="http://schemas.openxmlformats.org/officeDocument/2006/relationships/image" Target="../media/image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à coins arrondis 4"/>
          <p:cNvSpPr/>
          <p:nvPr/>
        </p:nvSpPr>
        <p:spPr>
          <a:xfrm>
            <a:off x="5097016" y="188640"/>
            <a:ext cx="4680520" cy="1584176"/>
          </a:xfrm>
          <a:prstGeom prst="roundRect">
            <a:avLst/>
          </a:prstGeom>
          <a:solidFill>
            <a:srgbClr val="00B050"/>
          </a:solidFill>
          <a:ln w="28575">
            <a:solidFill>
              <a:srgbClr val="005828"/>
            </a:solidFill>
          </a:ln>
        </p:spPr>
        <p:style>
          <a:lnRef idx="1">
            <a:schemeClr val="accent2"/>
          </a:lnRef>
          <a:fillRef idx="2">
            <a:schemeClr val="accent2"/>
          </a:fillRef>
          <a:effectRef idx="1">
            <a:schemeClr val="accent2"/>
          </a:effectRef>
          <a:fontRef idx="minor">
            <a:schemeClr val="dk1"/>
          </a:fontRef>
        </p:style>
        <p:txBody>
          <a:bodyPr lIns="91428" tIns="45714" rIns="91428" bIns="45714" rtlCol="0" anchor="ctr"/>
          <a:lstStyle/>
          <a:p>
            <a:pPr algn="r"/>
            <a:r>
              <a:rPr lang="fr-FR" sz="2800" dirty="0">
                <a:latin typeface="Arial Rounded MT Bold" pitchFamily="34" charset="0"/>
              </a:rPr>
              <a:t>BTS </a:t>
            </a:r>
            <a:r>
              <a:rPr lang="fr-FR" sz="2800" dirty="0" smtClean="0">
                <a:latin typeface="Arial Rounded MT Bold" pitchFamily="34" charset="0"/>
              </a:rPr>
              <a:t>SIO</a:t>
            </a:r>
          </a:p>
          <a:p>
            <a:pPr algn="r"/>
            <a:r>
              <a:rPr lang="fr-FR" sz="1200" dirty="0" smtClean="0">
                <a:latin typeface="Arial Rounded MT Bold" pitchFamily="34" charset="0"/>
              </a:rPr>
              <a:t>Services Informatiques aux Organisations</a:t>
            </a:r>
            <a:endParaRPr lang="fr-FR" sz="1600" dirty="0">
              <a:latin typeface="Arial Rounded MT Bold" pitchFamily="34" charset="0"/>
            </a:endParaRPr>
          </a:p>
          <a:p>
            <a:pPr algn="r"/>
            <a:endParaRPr lang="fr-FR" sz="2400" dirty="0">
              <a:latin typeface="Arial Rounded MT Bold" pitchFamily="34" charset="0"/>
            </a:endParaRPr>
          </a:p>
        </p:txBody>
      </p:sp>
      <p:sp>
        <p:nvSpPr>
          <p:cNvPr id="8" name="Rectangle à coins arrondis 7"/>
          <p:cNvSpPr/>
          <p:nvPr/>
        </p:nvSpPr>
        <p:spPr>
          <a:xfrm>
            <a:off x="5097016" y="1844824"/>
            <a:ext cx="1440160" cy="4896544"/>
          </a:xfrm>
          <a:prstGeom prst="roundRect">
            <a:avLst/>
          </a:prstGeom>
          <a:solidFill>
            <a:schemeClr val="tx1"/>
          </a:solidFill>
          <a:ln w="28575">
            <a:solidFill>
              <a:srgbClr val="005828"/>
            </a:solidFill>
          </a:ln>
        </p:spPr>
        <p:style>
          <a:lnRef idx="1">
            <a:schemeClr val="accent2"/>
          </a:lnRef>
          <a:fillRef idx="2">
            <a:schemeClr val="accent2"/>
          </a:fillRef>
          <a:effectRef idx="1">
            <a:schemeClr val="accent2"/>
          </a:effectRef>
          <a:fontRef idx="minor">
            <a:schemeClr val="dk1"/>
          </a:fontRef>
        </p:style>
        <p:txBody>
          <a:bodyPr lIns="91428" tIns="45714" rIns="91428" bIns="45714" rtlCol="0" anchor="ctr">
            <a:noAutofit/>
          </a:bodyPr>
          <a:lstStyle/>
          <a:p>
            <a:r>
              <a:rPr lang="fr-FR" sz="700" b="1" dirty="0" smtClean="0">
                <a:solidFill>
                  <a:srgbClr val="006C31"/>
                </a:solidFill>
                <a:latin typeface="Arial Rounded MT Bold" pitchFamily="34" charset="0"/>
              </a:rPr>
              <a:t>Objectifs de la formation</a:t>
            </a:r>
          </a:p>
          <a:p>
            <a:r>
              <a:rPr lang="fr-FR" sz="400" b="1" dirty="0" smtClean="0">
                <a:latin typeface="Arial Rounded MT Bold" pitchFamily="34" charset="0"/>
              </a:rPr>
              <a:t> </a:t>
            </a:r>
          </a:p>
          <a:p>
            <a:pPr marL="88900" lvl="0" indent="-88900" algn="just">
              <a:buFont typeface="Arial" pitchFamily="34" charset="0"/>
              <a:buChar char="•"/>
              <a:tabLst>
                <a:tab pos="88900" algn="l"/>
              </a:tabLst>
            </a:pPr>
            <a:r>
              <a:rPr lang="fr-FR" sz="700" dirty="0" smtClean="0">
                <a:solidFill>
                  <a:schemeClr val="bg2">
                    <a:lumMod val="75000"/>
                  </a:schemeClr>
                </a:solidFill>
                <a:latin typeface="Arial Rounded MT Bold" pitchFamily="34" charset="0"/>
              </a:rPr>
              <a:t>former des </a:t>
            </a:r>
            <a:r>
              <a:rPr lang="fr-FR" sz="700" dirty="0" err="1" smtClean="0">
                <a:solidFill>
                  <a:schemeClr val="bg2">
                    <a:lumMod val="75000"/>
                  </a:schemeClr>
                </a:solidFill>
                <a:latin typeface="Arial Rounded MT Bold" pitchFamily="34" charset="0"/>
              </a:rPr>
              <a:t>informa-ticiens</a:t>
            </a:r>
            <a:r>
              <a:rPr lang="fr-FR" sz="700" dirty="0" smtClean="0">
                <a:solidFill>
                  <a:schemeClr val="bg2">
                    <a:lumMod val="75000"/>
                  </a:schemeClr>
                </a:solidFill>
                <a:latin typeface="Arial Rounded MT Bold" pitchFamily="34" charset="0"/>
              </a:rPr>
              <a:t> capables de mettre en œuvre des solutions conformes aux attentes des utilisateurs, avec méthode et </a:t>
            </a:r>
            <a:r>
              <a:rPr lang="fr-FR" sz="700" dirty="0" err="1" smtClean="0">
                <a:solidFill>
                  <a:schemeClr val="bg2">
                    <a:lumMod val="75000"/>
                  </a:schemeClr>
                </a:solidFill>
                <a:latin typeface="Arial Rounded MT Bold" pitchFamily="34" charset="0"/>
              </a:rPr>
              <a:t>raison-nement</a:t>
            </a:r>
            <a:r>
              <a:rPr lang="fr-FR" sz="700" dirty="0" smtClean="0">
                <a:solidFill>
                  <a:schemeClr val="bg2">
                    <a:lumMod val="75000"/>
                  </a:schemeClr>
                </a:solidFill>
                <a:latin typeface="Arial Rounded MT Bold" pitchFamily="34" charset="0"/>
              </a:rPr>
              <a:t>, dans le cadre d’un réseau global ;</a:t>
            </a:r>
          </a:p>
          <a:p>
            <a:pPr marL="88900" lvl="0" indent="-88900" algn="just">
              <a:tabLst>
                <a:tab pos="88900" algn="l"/>
              </a:tabLst>
            </a:pPr>
            <a:endParaRPr lang="fr-FR" sz="300" dirty="0" smtClean="0">
              <a:solidFill>
                <a:schemeClr val="bg2">
                  <a:lumMod val="75000"/>
                </a:schemeClr>
              </a:solidFill>
              <a:latin typeface="Arial Rounded MT Bold" pitchFamily="34" charset="0"/>
            </a:endParaRPr>
          </a:p>
          <a:p>
            <a:pPr marL="88900" lvl="0" indent="-88900" algn="just">
              <a:buFont typeface="Arial" pitchFamily="34" charset="0"/>
              <a:buChar char="•"/>
              <a:tabLst>
                <a:tab pos="88900" algn="l"/>
              </a:tabLst>
            </a:pPr>
            <a:r>
              <a:rPr lang="fr-FR" sz="700" dirty="0" smtClean="0">
                <a:solidFill>
                  <a:schemeClr val="bg2">
                    <a:lumMod val="75000"/>
                  </a:schemeClr>
                </a:solidFill>
                <a:latin typeface="Arial Rounded MT Bold" pitchFamily="34" charset="0"/>
              </a:rPr>
              <a:t>développer l’autonomie et la responsabilisation de l’étudiant ;</a:t>
            </a:r>
          </a:p>
          <a:p>
            <a:pPr marL="88900" lvl="0" indent="-88900" algn="just">
              <a:tabLst>
                <a:tab pos="88900" algn="l"/>
              </a:tabLst>
            </a:pPr>
            <a:r>
              <a:rPr lang="fr-FR" sz="300" dirty="0" smtClean="0">
                <a:solidFill>
                  <a:schemeClr val="bg2">
                    <a:lumMod val="75000"/>
                  </a:schemeClr>
                </a:solidFill>
                <a:latin typeface="Arial Rounded MT Bold" pitchFamily="34" charset="0"/>
              </a:rPr>
              <a:t> </a:t>
            </a:r>
          </a:p>
          <a:p>
            <a:pPr marL="88900" lvl="0" indent="-88900" algn="just">
              <a:buFont typeface="Arial" pitchFamily="34" charset="0"/>
              <a:buChar char="•"/>
              <a:tabLst>
                <a:tab pos="88900" algn="l"/>
              </a:tabLst>
            </a:pPr>
            <a:r>
              <a:rPr lang="fr-FR" sz="700" dirty="0" smtClean="0">
                <a:solidFill>
                  <a:schemeClr val="bg2">
                    <a:lumMod val="75000"/>
                  </a:schemeClr>
                </a:solidFill>
                <a:latin typeface="Arial Rounded MT Bold" pitchFamily="34" charset="0"/>
              </a:rPr>
              <a:t>susciter une appétence pour la veille </a:t>
            </a:r>
            <a:r>
              <a:rPr lang="fr-FR" sz="700" dirty="0" err="1" smtClean="0">
                <a:solidFill>
                  <a:schemeClr val="bg2">
                    <a:lumMod val="75000"/>
                  </a:schemeClr>
                </a:solidFill>
                <a:latin typeface="Arial Rounded MT Bold" pitchFamily="34" charset="0"/>
              </a:rPr>
              <a:t>techno-logique</a:t>
            </a:r>
            <a:r>
              <a:rPr lang="fr-FR" sz="700" dirty="0" smtClean="0">
                <a:solidFill>
                  <a:schemeClr val="bg2">
                    <a:lumMod val="75000"/>
                  </a:schemeClr>
                </a:solidFill>
                <a:latin typeface="Arial Rounded MT Bold" pitchFamily="34" charset="0"/>
              </a:rPr>
              <a:t> et </a:t>
            </a:r>
            <a:r>
              <a:rPr lang="fr-FR" sz="700" smtClean="0">
                <a:solidFill>
                  <a:schemeClr val="bg2">
                    <a:lumMod val="75000"/>
                  </a:schemeClr>
                </a:solidFill>
                <a:latin typeface="Arial Rounded MT Bold" pitchFamily="34" charset="0"/>
              </a:rPr>
              <a:t>informa-tionnelle</a:t>
            </a:r>
            <a:r>
              <a:rPr lang="fr-FR" sz="700" dirty="0" smtClean="0">
                <a:solidFill>
                  <a:schemeClr val="bg2">
                    <a:lumMod val="75000"/>
                  </a:schemeClr>
                </a:solidFill>
                <a:latin typeface="Arial Rounded MT Bold" pitchFamily="34" charset="0"/>
              </a:rPr>
              <a:t> ;</a:t>
            </a:r>
          </a:p>
          <a:p>
            <a:pPr marL="88900" lvl="0" indent="-88900" algn="just">
              <a:tabLst>
                <a:tab pos="88900" algn="l"/>
              </a:tabLst>
            </a:pPr>
            <a:endParaRPr lang="fr-FR" sz="300" dirty="0" smtClean="0">
              <a:solidFill>
                <a:schemeClr val="bg2">
                  <a:lumMod val="75000"/>
                </a:schemeClr>
              </a:solidFill>
              <a:latin typeface="Arial Rounded MT Bold" pitchFamily="34" charset="0"/>
            </a:endParaRPr>
          </a:p>
          <a:p>
            <a:pPr marL="88900" lvl="0" indent="-88900" algn="just">
              <a:buFont typeface="Arial" pitchFamily="34" charset="0"/>
              <a:buChar char="•"/>
              <a:tabLst>
                <a:tab pos="88900" algn="l"/>
              </a:tabLst>
            </a:pPr>
            <a:r>
              <a:rPr lang="fr-FR" sz="700" dirty="0" smtClean="0">
                <a:solidFill>
                  <a:schemeClr val="bg2">
                    <a:lumMod val="75000"/>
                  </a:schemeClr>
                </a:solidFill>
                <a:latin typeface="Arial Rounded MT Bold" pitchFamily="34" charset="0"/>
              </a:rPr>
              <a:t>éveiller les étudiants à une démarche citoyenne dans l’utilisation des technologies de l’</a:t>
            </a:r>
            <a:r>
              <a:rPr lang="fr-FR" sz="700" dirty="0" err="1" smtClean="0">
                <a:solidFill>
                  <a:schemeClr val="bg2">
                    <a:lumMod val="75000"/>
                  </a:schemeClr>
                </a:solidFill>
                <a:latin typeface="Arial Rounded MT Bold" pitchFamily="34" charset="0"/>
              </a:rPr>
              <a:t>infor-mation</a:t>
            </a:r>
            <a:r>
              <a:rPr lang="fr-FR" sz="700" dirty="0" smtClean="0">
                <a:solidFill>
                  <a:schemeClr val="bg2">
                    <a:lumMod val="75000"/>
                  </a:schemeClr>
                </a:solidFill>
                <a:latin typeface="Arial Rounded MT Bold" pitchFamily="34" charset="0"/>
              </a:rPr>
              <a:t> et de la </a:t>
            </a:r>
            <a:r>
              <a:rPr lang="fr-FR" sz="700" dirty="0" err="1" smtClean="0">
                <a:solidFill>
                  <a:schemeClr val="bg2">
                    <a:lumMod val="75000"/>
                  </a:schemeClr>
                </a:solidFill>
                <a:latin typeface="Arial Rounded MT Bold" pitchFamily="34" charset="0"/>
              </a:rPr>
              <a:t>comunication</a:t>
            </a:r>
            <a:r>
              <a:rPr lang="fr-FR" sz="700" dirty="0" smtClean="0">
                <a:solidFill>
                  <a:schemeClr val="bg2">
                    <a:lumMod val="75000"/>
                  </a:schemeClr>
                </a:solidFill>
                <a:latin typeface="Arial Rounded MT Bold" pitchFamily="34" charset="0"/>
              </a:rPr>
              <a:t>.	</a:t>
            </a:r>
          </a:p>
          <a:p>
            <a:r>
              <a:rPr lang="fr-FR" sz="700" b="1" dirty="0" smtClean="0">
                <a:latin typeface="Arial Rounded MT Bold" pitchFamily="34" charset="0"/>
              </a:rPr>
              <a:t> </a:t>
            </a:r>
          </a:p>
          <a:p>
            <a:r>
              <a:rPr lang="fr-FR" sz="700" b="1" dirty="0" smtClean="0">
                <a:solidFill>
                  <a:srgbClr val="006C31"/>
                </a:solidFill>
                <a:latin typeface="Arial Rounded MT Bold" pitchFamily="34" charset="0"/>
              </a:rPr>
              <a:t>Qualités nécessaires pour intégrer cette formation</a:t>
            </a:r>
          </a:p>
          <a:p>
            <a:r>
              <a:rPr lang="fr-FR" sz="400" b="1" dirty="0" smtClean="0">
                <a:solidFill>
                  <a:schemeClr val="accent2">
                    <a:lumMod val="50000"/>
                  </a:schemeClr>
                </a:solidFill>
                <a:latin typeface="Arial Rounded MT Bold" pitchFamily="34" charset="0"/>
              </a:rPr>
              <a:t> </a:t>
            </a:r>
          </a:p>
          <a:p>
            <a:r>
              <a:rPr lang="fr-FR" sz="650" b="1" dirty="0" smtClean="0">
                <a:solidFill>
                  <a:srgbClr val="006C31"/>
                </a:solidFill>
                <a:latin typeface="Arial Rounded MT Bold" pitchFamily="34" charset="0"/>
              </a:rPr>
              <a:t>Être :</a:t>
            </a:r>
          </a:p>
          <a:p>
            <a:pPr>
              <a:buFont typeface="Arial" pitchFamily="34" charset="0"/>
              <a:buChar char="•"/>
            </a:pPr>
            <a:r>
              <a:rPr lang="fr-FR" sz="650" dirty="0" smtClean="0">
                <a:solidFill>
                  <a:schemeClr val="bg2">
                    <a:lumMod val="75000"/>
                  </a:schemeClr>
                </a:solidFill>
                <a:latin typeface="Arial Rounded MT Bold" pitchFamily="34" charset="0"/>
              </a:rPr>
              <a:t>  Patient ;</a:t>
            </a:r>
          </a:p>
          <a:p>
            <a:pPr>
              <a:buFont typeface="Arial" pitchFamily="34" charset="0"/>
              <a:buChar char="•"/>
            </a:pPr>
            <a:r>
              <a:rPr lang="fr-FR" sz="650" dirty="0" smtClean="0">
                <a:solidFill>
                  <a:schemeClr val="bg2">
                    <a:lumMod val="75000"/>
                  </a:schemeClr>
                </a:solidFill>
                <a:latin typeface="Arial Rounded MT Bold" pitchFamily="34" charset="0"/>
              </a:rPr>
              <a:t>  Persévérant ;</a:t>
            </a:r>
          </a:p>
          <a:p>
            <a:pPr>
              <a:buFont typeface="Arial" pitchFamily="34" charset="0"/>
              <a:buChar char="•"/>
            </a:pPr>
            <a:r>
              <a:rPr lang="fr-FR" sz="650" dirty="0" smtClean="0">
                <a:solidFill>
                  <a:schemeClr val="bg2">
                    <a:lumMod val="75000"/>
                  </a:schemeClr>
                </a:solidFill>
                <a:latin typeface="Arial Rounded MT Bold" pitchFamily="34" charset="0"/>
              </a:rPr>
              <a:t>  Adaptable ;</a:t>
            </a:r>
          </a:p>
          <a:p>
            <a:pPr>
              <a:buFont typeface="Arial" pitchFamily="34" charset="0"/>
              <a:buChar char="•"/>
            </a:pPr>
            <a:r>
              <a:rPr lang="fr-FR" sz="650" dirty="0" smtClean="0">
                <a:solidFill>
                  <a:schemeClr val="bg2">
                    <a:lumMod val="75000"/>
                  </a:schemeClr>
                </a:solidFill>
                <a:latin typeface="Arial Rounded MT Bold" pitchFamily="34" charset="0"/>
              </a:rPr>
              <a:t>  Travailleur …</a:t>
            </a:r>
          </a:p>
          <a:p>
            <a:r>
              <a:rPr lang="fr-FR" sz="400" dirty="0" smtClean="0">
                <a:solidFill>
                  <a:schemeClr val="bg2">
                    <a:lumMod val="75000"/>
                  </a:schemeClr>
                </a:solidFill>
                <a:latin typeface="Arial Rounded MT Bold" pitchFamily="34" charset="0"/>
              </a:rPr>
              <a:t> </a:t>
            </a:r>
          </a:p>
          <a:p>
            <a:r>
              <a:rPr lang="fr-FR" sz="650" b="1" dirty="0" smtClean="0">
                <a:solidFill>
                  <a:srgbClr val="006C31"/>
                </a:solidFill>
                <a:latin typeface="Arial Rounded MT Bold" pitchFamily="34" charset="0"/>
              </a:rPr>
              <a:t>Avoir :</a:t>
            </a:r>
          </a:p>
          <a:p>
            <a:pPr marL="88900" indent="-88900">
              <a:buFont typeface="Arial" pitchFamily="34" charset="0"/>
              <a:buChar char="•"/>
              <a:tabLst>
                <a:tab pos="88900" algn="l"/>
              </a:tabLst>
            </a:pPr>
            <a:r>
              <a:rPr lang="fr-FR" sz="650" dirty="0" smtClean="0">
                <a:solidFill>
                  <a:schemeClr val="bg2">
                    <a:lumMod val="75000"/>
                  </a:schemeClr>
                </a:solidFill>
                <a:latin typeface="Arial Rounded MT Bold" pitchFamily="34" charset="0"/>
              </a:rPr>
              <a:t>De la rigueur et de la méthode ;</a:t>
            </a:r>
          </a:p>
          <a:p>
            <a:pPr marL="88900" indent="-88900">
              <a:buFont typeface="Arial" pitchFamily="34" charset="0"/>
              <a:buChar char="•"/>
              <a:tabLst>
                <a:tab pos="88900" algn="l"/>
              </a:tabLst>
            </a:pPr>
            <a:r>
              <a:rPr lang="fr-FR" sz="650" dirty="0" smtClean="0">
                <a:solidFill>
                  <a:schemeClr val="bg2">
                    <a:lumMod val="75000"/>
                  </a:schemeClr>
                </a:solidFill>
                <a:latin typeface="Arial Rounded MT Bold" pitchFamily="34" charset="0"/>
              </a:rPr>
              <a:t>Une ouverture d’esprit ;</a:t>
            </a:r>
          </a:p>
          <a:p>
            <a:pPr marL="88900" indent="-88900">
              <a:buFont typeface="Arial" pitchFamily="34" charset="0"/>
              <a:buChar char="•"/>
              <a:tabLst>
                <a:tab pos="88900" algn="l"/>
              </a:tabLst>
            </a:pPr>
            <a:r>
              <a:rPr lang="fr-FR" sz="650" dirty="0" smtClean="0">
                <a:solidFill>
                  <a:schemeClr val="bg2">
                    <a:lumMod val="75000"/>
                  </a:schemeClr>
                </a:solidFill>
                <a:latin typeface="Arial Rounded MT Bold" pitchFamily="34" charset="0"/>
              </a:rPr>
              <a:t>La capacité à s’intégrer à un groupe, à travailler en équipe ; </a:t>
            </a:r>
          </a:p>
          <a:p>
            <a:pPr marL="88900" indent="-88900">
              <a:buFont typeface="Arial" pitchFamily="34" charset="0"/>
              <a:buChar char="•"/>
              <a:tabLst>
                <a:tab pos="88900" algn="l"/>
              </a:tabLst>
            </a:pPr>
            <a:r>
              <a:rPr lang="fr-FR" sz="650" dirty="0" smtClean="0">
                <a:solidFill>
                  <a:schemeClr val="bg2">
                    <a:lumMod val="75000"/>
                  </a:schemeClr>
                </a:solidFill>
                <a:latin typeface="Arial Rounded MT Bold" pitchFamily="34" charset="0"/>
              </a:rPr>
              <a:t>Une capacité à communiquer …</a:t>
            </a:r>
          </a:p>
        </p:txBody>
      </p:sp>
      <p:sp>
        <p:nvSpPr>
          <p:cNvPr id="13" name="Rectangle à coins arrondis 12"/>
          <p:cNvSpPr/>
          <p:nvPr/>
        </p:nvSpPr>
        <p:spPr>
          <a:xfrm>
            <a:off x="56456" y="188640"/>
            <a:ext cx="4824536" cy="6552728"/>
          </a:xfrm>
          <a:prstGeom prst="roundRect">
            <a:avLst>
              <a:gd name="adj" fmla="val 7602"/>
            </a:avLst>
          </a:prstGeom>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lin ang="0" scaled="1"/>
            <a:tileRect/>
          </a:gradFill>
          <a:ln w="28575">
            <a:solidFill>
              <a:srgbClr val="006C31"/>
            </a:solidFill>
          </a:ln>
        </p:spPr>
        <p:style>
          <a:lnRef idx="1">
            <a:schemeClr val="accent2"/>
          </a:lnRef>
          <a:fillRef idx="2">
            <a:schemeClr val="accent2"/>
          </a:fillRef>
          <a:effectRef idx="1">
            <a:schemeClr val="accent2"/>
          </a:effectRef>
          <a:fontRef idx="minor">
            <a:schemeClr val="dk1"/>
          </a:fontRef>
        </p:style>
        <p:txBody>
          <a:bodyPr lIns="91428" tIns="45714" rIns="91428" bIns="45714" rtlCol="0" anchor="ctr">
            <a:normAutofit/>
          </a:bodyPr>
          <a:lstStyle/>
          <a:p>
            <a:endParaRPr lang="fr-FR" sz="1200" dirty="0">
              <a:solidFill>
                <a:schemeClr val="bg2">
                  <a:lumMod val="60000"/>
                  <a:lumOff val="40000"/>
                </a:schemeClr>
              </a:solidFill>
              <a:latin typeface="Arial Rounded MT Bold" pitchFamily="34" charset="0"/>
            </a:endParaRPr>
          </a:p>
        </p:txBody>
      </p:sp>
      <p:sp>
        <p:nvSpPr>
          <p:cNvPr id="15" name="ZoneTexte 14"/>
          <p:cNvSpPr txBox="1"/>
          <p:nvPr/>
        </p:nvSpPr>
        <p:spPr>
          <a:xfrm>
            <a:off x="56456" y="1196752"/>
            <a:ext cx="1512168" cy="3762568"/>
          </a:xfrm>
          <a:prstGeom prst="rect">
            <a:avLst/>
          </a:prstGeom>
          <a:noFill/>
        </p:spPr>
        <p:txBody>
          <a:bodyPr wrap="square" rtlCol="0">
            <a:spAutoFit/>
          </a:bodyPr>
          <a:lstStyle/>
          <a:p>
            <a:r>
              <a:rPr lang="fr-FR" sz="2000" b="1" dirty="0" smtClean="0">
                <a:solidFill>
                  <a:srgbClr val="006C31"/>
                </a:solidFill>
                <a:latin typeface="Arial Rounded MT Bold" pitchFamily="34" charset="0"/>
              </a:rPr>
              <a:t>BTS</a:t>
            </a:r>
          </a:p>
          <a:p>
            <a:r>
              <a:rPr lang="fr-FR" sz="1400" b="1" dirty="0" smtClean="0">
                <a:solidFill>
                  <a:srgbClr val="006C31"/>
                </a:solidFill>
                <a:latin typeface="Arial Rounded MT Bold" pitchFamily="34" charset="0"/>
              </a:rPr>
              <a:t>S</a:t>
            </a:r>
            <a:r>
              <a:rPr lang="fr-FR" sz="1200" b="1" dirty="0" smtClean="0">
                <a:solidFill>
                  <a:srgbClr val="006C31"/>
                </a:solidFill>
                <a:latin typeface="Arial Rounded MT Bold" pitchFamily="34" charset="0"/>
              </a:rPr>
              <a:t>ervices Informatiques aux </a:t>
            </a:r>
            <a:r>
              <a:rPr lang="fr-FR" sz="1400" b="1" dirty="0" smtClean="0">
                <a:solidFill>
                  <a:srgbClr val="006C31"/>
                </a:solidFill>
                <a:latin typeface="Arial Rounded MT Bold" pitchFamily="34" charset="0"/>
              </a:rPr>
              <a:t>O</a:t>
            </a:r>
            <a:r>
              <a:rPr lang="fr-FR" sz="1200" b="1" dirty="0" smtClean="0">
                <a:solidFill>
                  <a:srgbClr val="006C31"/>
                </a:solidFill>
                <a:latin typeface="Arial Rounded MT Bold" pitchFamily="34" charset="0"/>
              </a:rPr>
              <a:t>rganisations</a:t>
            </a:r>
          </a:p>
          <a:p>
            <a:endParaRPr lang="fr-FR" b="1" dirty="0">
              <a:solidFill>
                <a:srgbClr val="006C31"/>
              </a:solidFill>
            </a:endParaRPr>
          </a:p>
          <a:p>
            <a:endParaRPr lang="fr-FR" b="1" dirty="0" smtClean="0">
              <a:solidFill>
                <a:srgbClr val="006C31"/>
              </a:solidFill>
            </a:endParaRPr>
          </a:p>
          <a:p>
            <a:endParaRPr lang="fr-FR" sz="1100" b="1" dirty="0" smtClean="0">
              <a:solidFill>
                <a:srgbClr val="006C31"/>
              </a:solidFill>
            </a:endParaRPr>
          </a:p>
          <a:p>
            <a:endParaRPr lang="fr-FR" sz="900" b="1" dirty="0" smtClean="0">
              <a:solidFill>
                <a:srgbClr val="006C31"/>
              </a:solidFill>
              <a:latin typeface="Arial Rounded MT Bold" pitchFamily="34" charset="0"/>
            </a:endParaRPr>
          </a:p>
          <a:p>
            <a:endParaRPr lang="fr-FR" sz="900" b="1" dirty="0" smtClean="0">
              <a:solidFill>
                <a:srgbClr val="006C31"/>
              </a:solidFill>
              <a:latin typeface="Arial Rounded MT Bold" pitchFamily="34" charset="0"/>
            </a:endParaRPr>
          </a:p>
          <a:p>
            <a:r>
              <a:rPr lang="fr-FR" sz="1100" b="1" dirty="0" smtClean="0">
                <a:solidFill>
                  <a:srgbClr val="006C31"/>
                </a:solidFill>
                <a:latin typeface="Arial Rounded MT Bold" pitchFamily="34" charset="0"/>
              </a:rPr>
              <a:t>Lycée Monge</a:t>
            </a:r>
          </a:p>
          <a:p>
            <a:endParaRPr lang="fr-FR" sz="1100" b="1" dirty="0" smtClean="0">
              <a:solidFill>
                <a:srgbClr val="006C31"/>
              </a:solidFill>
              <a:latin typeface="Arial Rounded MT Bold" pitchFamily="34" charset="0"/>
            </a:endParaRPr>
          </a:p>
          <a:p>
            <a:r>
              <a:rPr lang="fr-FR" sz="1100" b="1" dirty="0" smtClean="0">
                <a:solidFill>
                  <a:srgbClr val="006C31"/>
                </a:solidFill>
                <a:latin typeface="Arial Rounded MT Bold" pitchFamily="34" charset="0"/>
              </a:rPr>
              <a:t>2 avenue de </a:t>
            </a:r>
          </a:p>
          <a:p>
            <a:r>
              <a:rPr lang="fr-FR" sz="1100" b="1" dirty="0" smtClean="0">
                <a:solidFill>
                  <a:srgbClr val="006C31"/>
                </a:solidFill>
                <a:latin typeface="Arial Rounded MT Bold" pitchFamily="34" charset="0"/>
              </a:rPr>
              <a:t>Saint-Julien</a:t>
            </a:r>
          </a:p>
          <a:p>
            <a:endParaRPr lang="fr-FR" sz="500" b="1" dirty="0" smtClean="0">
              <a:solidFill>
                <a:srgbClr val="006C31"/>
              </a:solidFill>
              <a:latin typeface="Arial Rounded MT Bold" pitchFamily="34" charset="0"/>
            </a:endParaRPr>
          </a:p>
          <a:p>
            <a:r>
              <a:rPr lang="fr-FR" sz="1100" b="1" dirty="0" smtClean="0">
                <a:solidFill>
                  <a:srgbClr val="006C31"/>
                </a:solidFill>
                <a:latin typeface="Arial Rounded MT Bold" pitchFamily="34" charset="0"/>
              </a:rPr>
              <a:t>08000 Charleville-Mézières</a:t>
            </a:r>
          </a:p>
          <a:p>
            <a:endParaRPr lang="fr-FR" sz="1100" b="1" dirty="0">
              <a:solidFill>
                <a:srgbClr val="006C31"/>
              </a:solidFill>
              <a:latin typeface="Arial Rounded MT Bold" pitchFamily="34" charset="0"/>
            </a:endParaRPr>
          </a:p>
          <a:p>
            <a:pPr>
              <a:lnSpc>
                <a:spcPct val="150000"/>
              </a:lnSpc>
            </a:pPr>
            <a:r>
              <a:rPr lang="fr-FR" sz="700" dirty="0" smtClean="0">
                <a:solidFill>
                  <a:srgbClr val="006C31"/>
                </a:solidFill>
                <a:latin typeface="Arial Rounded MT Bold" pitchFamily="34" charset="0"/>
              </a:rPr>
              <a:t>Téléphone : 03.24.52.69.69</a:t>
            </a:r>
          </a:p>
          <a:p>
            <a:pPr>
              <a:lnSpc>
                <a:spcPct val="150000"/>
              </a:lnSpc>
            </a:pPr>
            <a:r>
              <a:rPr lang="fr-FR" sz="700" dirty="0" smtClean="0">
                <a:solidFill>
                  <a:srgbClr val="006C31"/>
                </a:solidFill>
                <a:latin typeface="Arial Rounded MT Bold" pitchFamily="34" charset="0"/>
              </a:rPr>
              <a:t>Mél : ce.0080027l@ac-reims.fr</a:t>
            </a:r>
          </a:p>
          <a:p>
            <a:pPr>
              <a:lnSpc>
                <a:spcPct val="150000"/>
              </a:lnSpc>
            </a:pPr>
            <a:r>
              <a:rPr lang="fr-FR" sz="700" dirty="0" smtClean="0">
                <a:solidFill>
                  <a:srgbClr val="006C31"/>
                </a:solidFill>
                <a:latin typeface="Arial Rounded MT Bold" pitchFamily="34" charset="0"/>
              </a:rPr>
              <a:t>Site : www.lyceemonge.com</a:t>
            </a:r>
            <a:endParaRPr lang="fr-FR" sz="1100" dirty="0">
              <a:solidFill>
                <a:srgbClr val="006C31"/>
              </a:solidFill>
              <a:latin typeface="Arial Rounded MT Bold" pitchFamily="34" charset="0"/>
            </a:endParaRPr>
          </a:p>
        </p:txBody>
      </p:sp>
      <p:sp>
        <p:nvSpPr>
          <p:cNvPr id="16" name="Rectangle à coins arrondis 15"/>
          <p:cNvSpPr/>
          <p:nvPr/>
        </p:nvSpPr>
        <p:spPr>
          <a:xfrm>
            <a:off x="6681192" y="2996952"/>
            <a:ext cx="2952328" cy="3744416"/>
          </a:xfrm>
          <a:prstGeom prst="roundRect">
            <a:avLst>
              <a:gd name="adj" fmla="val 12544"/>
            </a:avLst>
          </a:prstGeom>
          <a:solidFill>
            <a:schemeClr val="tx1"/>
          </a:solidFill>
          <a:ln w="28575">
            <a:solidFill>
              <a:srgbClr val="006C31"/>
            </a:solidFill>
          </a:ln>
        </p:spPr>
        <p:style>
          <a:lnRef idx="1">
            <a:schemeClr val="accent2"/>
          </a:lnRef>
          <a:fillRef idx="2">
            <a:schemeClr val="accent2"/>
          </a:fillRef>
          <a:effectRef idx="1">
            <a:schemeClr val="accent2"/>
          </a:effectRef>
          <a:fontRef idx="minor">
            <a:schemeClr val="dk1"/>
          </a:fontRef>
        </p:style>
        <p:txBody>
          <a:bodyPr lIns="91428" tIns="45714" rIns="91428" bIns="45714" rtlCol="0" anchor="ctr">
            <a:noAutofit/>
          </a:bodyPr>
          <a:lstStyle/>
          <a:p>
            <a:pPr algn="ctr"/>
            <a:r>
              <a:rPr lang="fr-FR" sz="1400" b="1" dirty="0" smtClean="0">
                <a:solidFill>
                  <a:srgbClr val="006C31"/>
                </a:solidFill>
                <a:latin typeface="Arial Rounded MT Bold" pitchFamily="34" charset="0"/>
              </a:rPr>
              <a:t>Les conditions d’admission</a:t>
            </a:r>
          </a:p>
          <a:p>
            <a:pPr algn="ctr"/>
            <a:r>
              <a:rPr lang="fr-FR" sz="800" i="1" dirty="0" smtClean="0">
                <a:solidFill>
                  <a:schemeClr val="bg2">
                    <a:lumMod val="75000"/>
                  </a:schemeClr>
                </a:solidFill>
                <a:latin typeface="Arial Rounded MT Bold" pitchFamily="34" charset="0"/>
              </a:rPr>
              <a:t>(Dépôt des candidatures de mi-janvier à fin avril)</a:t>
            </a:r>
          </a:p>
          <a:p>
            <a:endParaRPr lang="fr-FR" sz="700" b="1" dirty="0" smtClean="0">
              <a:solidFill>
                <a:schemeClr val="bg2">
                  <a:lumMod val="75000"/>
                </a:schemeClr>
              </a:solidFill>
              <a:latin typeface="Arial Rounded MT Bold" pitchFamily="34" charset="0"/>
            </a:endParaRPr>
          </a:p>
          <a:p>
            <a:pPr algn="just">
              <a:buFont typeface="Arial" pitchFamily="34" charset="0"/>
              <a:buChar char="•"/>
            </a:pPr>
            <a:r>
              <a:rPr lang="fr-FR" sz="1200" b="1" dirty="0" smtClean="0">
                <a:solidFill>
                  <a:schemeClr val="bg2">
                    <a:lumMod val="75000"/>
                  </a:schemeClr>
                </a:solidFill>
                <a:latin typeface="Arial Rounded MT Bold" pitchFamily="34" charset="0"/>
              </a:rPr>
              <a:t> </a:t>
            </a:r>
            <a:r>
              <a:rPr lang="fr-FR" sz="1050" b="1" dirty="0" smtClean="0">
                <a:solidFill>
                  <a:schemeClr val="bg2">
                    <a:lumMod val="75000"/>
                  </a:schemeClr>
                </a:solidFill>
                <a:latin typeface="Arial Rounded MT Bold" pitchFamily="34" charset="0"/>
              </a:rPr>
              <a:t>être titulaire du baccalauréat</a:t>
            </a:r>
            <a:endParaRPr lang="fr-FR" sz="1100" b="1" dirty="0" smtClean="0">
              <a:solidFill>
                <a:schemeClr val="bg2">
                  <a:lumMod val="75000"/>
                </a:schemeClr>
              </a:solidFill>
              <a:latin typeface="Arial Rounded MT Bold" pitchFamily="34" charset="0"/>
            </a:endParaRPr>
          </a:p>
          <a:p>
            <a:pPr algn="just">
              <a:buFontTx/>
              <a:buChar char="-"/>
            </a:pPr>
            <a:endParaRPr lang="fr-FR" sz="700" b="1" dirty="0" smtClean="0">
              <a:solidFill>
                <a:schemeClr val="bg2">
                  <a:lumMod val="75000"/>
                </a:schemeClr>
              </a:solidFill>
              <a:latin typeface="Arial Rounded MT Bold" pitchFamily="34" charset="0"/>
            </a:endParaRPr>
          </a:p>
          <a:p>
            <a:pPr algn="just">
              <a:buFont typeface="Arial" pitchFamily="34" charset="0"/>
              <a:buChar char="•"/>
            </a:pPr>
            <a:r>
              <a:rPr lang="fr-FR" sz="1100" b="1" dirty="0" smtClean="0">
                <a:solidFill>
                  <a:schemeClr val="bg2">
                    <a:lumMod val="75000"/>
                  </a:schemeClr>
                </a:solidFill>
                <a:latin typeface="Arial Rounded MT Bold" pitchFamily="34" charset="0"/>
              </a:rPr>
              <a:t> </a:t>
            </a:r>
            <a:r>
              <a:rPr lang="fr-FR" sz="1050" b="1" dirty="0" smtClean="0">
                <a:solidFill>
                  <a:schemeClr val="bg2">
                    <a:lumMod val="75000"/>
                  </a:schemeClr>
                </a:solidFill>
                <a:latin typeface="Arial Rounded MT Bold" pitchFamily="34" charset="0"/>
              </a:rPr>
              <a:t>l’admission en section de technicien supérieur est prononcée par le chef d’établissement sur avis d’une commission formée par l’équipe pédagogique qui aura en charge la section des techniciens supérieurs. Les bulletins des classes de 1</a:t>
            </a:r>
            <a:r>
              <a:rPr lang="fr-FR" sz="1050" b="1" baseline="30000" dirty="0" smtClean="0">
                <a:solidFill>
                  <a:schemeClr val="bg2">
                    <a:lumMod val="75000"/>
                  </a:schemeClr>
                </a:solidFill>
                <a:latin typeface="Arial Rounded MT Bold" pitchFamily="34" charset="0"/>
              </a:rPr>
              <a:t>ère</a:t>
            </a:r>
            <a:r>
              <a:rPr lang="fr-FR" sz="1050" b="1" dirty="0" smtClean="0">
                <a:solidFill>
                  <a:schemeClr val="bg2">
                    <a:lumMod val="75000"/>
                  </a:schemeClr>
                </a:solidFill>
                <a:latin typeface="Arial Rounded MT Bold" pitchFamily="34" charset="0"/>
              </a:rPr>
              <a:t> et de terminale sont exigés.</a:t>
            </a:r>
          </a:p>
          <a:p>
            <a:pPr>
              <a:buFontTx/>
              <a:buChar char="-"/>
            </a:pPr>
            <a:endParaRPr lang="fr-FR" sz="700" b="1" dirty="0" smtClean="0">
              <a:solidFill>
                <a:schemeClr val="bg2">
                  <a:lumMod val="75000"/>
                </a:schemeClr>
              </a:solidFill>
              <a:latin typeface="Arial Rounded MT Bold" pitchFamily="34" charset="0"/>
            </a:endParaRPr>
          </a:p>
          <a:p>
            <a:pPr algn="ctr"/>
            <a:r>
              <a:rPr lang="fr-FR" sz="1400" b="1" dirty="0" smtClean="0">
                <a:solidFill>
                  <a:srgbClr val="006C31"/>
                </a:solidFill>
                <a:latin typeface="Arial Rounded MT Bold" pitchFamily="34" charset="0"/>
              </a:rPr>
              <a:t>Il s’adresse :</a:t>
            </a:r>
          </a:p>
          <a:p>
            <a:endParaRPr lang="fr-FR" sz="700" b="1" dirty="0" smtClean="0">
              <a:solidFill>
                <a:schemeClr val="bg2">
                  <a:lumMod val="75000"/>
                </a:schemeClr>
              </a:solidFill>
              <a:latin typeface="Arial Rounded MT Bold" pitchFamily="34" charset="0"/>
            </a:endParaRPr>
          </a:p>
          <a:p>
            <a:pPr algn="just">
              <a:buFont typeface="Arial" pitchFamily="34" charset="0"/>
              <a:buChar char="•"/>
            </a:pPr>
            <a:r>
              <a:rPr lang="fr-FR" sz="1200" b="1" dirty="0" smtClean="0">
                <a:solidFill>
                  <a:schemeClr val="bg2">
                    <a:lumMod val="75000"/>
                  </a:schemeClr>
                </a:solidFill>
                <a:latin typeface="Arial Rounded MT Bold" pitchFamily="34" charset="0"/>
              </a:rPr>
              <a:t> </a:t>
            </a:r>
            <a:r>
              <a:rPr lang="fr-FR" sz="1050" b="1" dirty="0" smtClean="0">
                <a:solidFill>
                  <a:schemeClr val="bg2">
                    <a:lumMod val="75000"/>
                  </a:schemeClr>
                </a:solidFill>
                <a:latin typeface="Arial Rounded MT Bold" pitchFamily="34" charset="0"/>
              </a:rPr>
              <a:t>aux titulaires d’un baccalauréat technologique STMG, (notamment avec l’option Système d’Information et de Gestion – SIG) et STI2D, d’un baccalauréat général (S, ES), d’un baccalauréat professionnel (SEN).</a:t>
            </a:r>
            <a:endParaRPr lang="fr-FR" sz="1200" dirty="0">
              <a:solidFill>
                <a:schemeClr val="bg2">
                  <a:lumMod val="75000"/>
                </a:schemeClr>
              </a:solidFill>
              <a:latin typeface="Arial Rounded MT Bold" pitchFamily="34" charset="0"/>
            </a:endParaRPr>
          </a:p>
        </p:txBody>
      </p:sp>
      <p:pic>
        <p:nvPicPr>
          <p:cNvPr id="17" name="Image 16" descr="marianne.bmp"/>
          <p:cNvPicPr>
            <a:picLocks noChangeAspect="1"/>
          </p:cNvPicPr>
          <p:nvPr/>
        </p:nvPicPr>
        <p:blipFill>
          <a:blip r:embed="rId2" cstate="print"/>
          <a:stretch>
            <a:fillRect/>
          </a:stretch>
        </p:blipFill>
        <p:spPr>
          <a:xfrm>
            <a:off x="272480" y="5085184"/>
            <a:ext cx="613007" cy="360000"/>
          </a:xfrm>
          <a:prstGeom prst="rect">
            <a:avLst/>
          </a:prstGeom>
        </p:spPr>
      </p:pic>
      <p:pic>
        <p:nvPicPr>
          <p:cNvPr id="20" name="Image 19" descr="LOGO_REGION_FOND_TRANSPARENT.jpg"/>
          <p:cNvPicPr>
            <a:picLocks noChangeAspect="1"/>
          </p:cNvPicPr>
          <p:nvPr/>
        </p:nvPicPr>
        <p:blipFill>
          <a:blip r:embed="rId3" cstate="print"/>
          <a:stretch>
            <a:fillRect/>
          </a:stretch>
        </p:blipFill>
        <p:spPr>
          <a:xfrm>
            <a:off x="272480" y="5805264"/>
            <a:ext cx="1129091" cy="360000"/>
          </a:xfrm>
          <a:prstGeom prst="rect">
            <a:avLst/>
          </a:prstGeom>
        </p:spPr>
      </p:pic>
      <p:sp>
        <p:nvSpPr>
          <p:cNvPr id="11" name="Rectangle à coins arrondis 10"/>
          <p:cNvSpPr/>
          <p:nvPr/>
        </p:nvSpPr>
        <p:spPr>
          <a:xfrm>
            <a:off x="1568624" y="332656"/>
            <a:ext cx="3240360" cy="6264696"/>
          </a:xfrm>
          <a:prstGeom prst="roundRect">
            <a:avLst>
              <a:gd name="adj" fmla="val 7505"/>
            </a:avLst>
          </a:prstGeom>
          <a:ln>
            <a:solidFill>
              <a:srgbClr val="006C31"/>
            </a:solidFill>
          </a:ln>
        </p:spPr>
        <p:style>
          <a:lnRef idx="2">
            <a:schemeClr val="accent4"/>
          </a:lnRef>
          <a:fillRef idx="1">
            <a:schemeClr val="lt1"/>
          </a:fillRef>
          <a:effectRef idx="0">
            <a:schemeClr val="accent4"/>
          </a:effectRef>
          <a:fontRef idx="minor">
            <a:schemeClr val="dk1"/>
          </a:fontRef>
        </p:style>
        <p:txBody>
          <a:bodyPr wrap="square" lIns="0" tIns="45714" rIns="0" bIns="36000" numCol="2" spcCol="108000" rtlCol="0" anchor="ctr">
            <a:noAutofit/>
          </a:bodyPr>
          <a:lstStyle/>
          <a:p>
            <a:pPr algn="just"/>
            <a:endParaRPr lang="fr-FR" sz="600" dirty="0" smtClean="0">
              <a:solidFill>
                <a:srgbClr val="002060"/>
              </a:solidFill>
              <a:latin typeface="Arial Rounded MT Bold" pitchFamily="34" charset="0"/>
            </a:endParaRPr>
          </a:p>
          <a:p>
            <a:pPr algn="just"/>
            <a:endParaRPr lang="fr-FR" sz="300" dirty="0" smtClean="0">
              <a:solidFill>
                <a:schemeClr val="bg1"/>
              </a:solidFill>
              <a:latin typeface="Arial Rounded MT Bold" pitchFamily="34" charset="0"/>
            </a:endParaRPr>
          </a:p>
          <a:p>
            <a:pPr algn="just"/>
            <a:endParaRPr lang="fr-FR" sz="600" dirty="0" smtClean="0">
              <a:solidFill>
                <a:schemeClr val="bg1"/>
              </a:solidFill>
              <a:latin typeface="Arial Rounded MT Bold" pitchFamily="34" charset="0"/>
            </a:endParaRPr>
          </a:p>
          <a:p>
            <a:pPr algn="just"/>
            <a:r>
              <a:rPr lang="fr-FR" sz="600" dirty="0" smtClean="0">
                <a:solidFill>
                  <a:schemeClr val="bg1"/>
                </a:solidFill>
                <a:latin typeface="Arial Rounded MT Bold" pitchFamily="34" charset="0"/>
              </a:rPr>
              <a:t>Le titulaire du diplôme participe à la production et à la fourniture de services informatiques aux organisations, soit en tant que collaborateur de l’organisation soit en tant qu’intervenant d’une société de conseil et de services informatiques, d’un éditeur de logiciels ou d’une société de conseil en technologies.</a:t>
            </a:r>
          </a:p>
          <a:p>
            <a:pPr algn="just"/>
            <a:endParaRPr lang="fr-FR" sz="300" b="1" dirty="0" smtClean="0">
              <a:solidFill>
                <a:schemeClr val="bg1"/>
              </a:solidFill>
              <a:latin typeface="Arial Rounded MT Bold" pitchFamily="34" charset="0"/>
            </a:endParaRPr>
          </a:p>
          <a:p>
            <a:pPr algn="just"/>
            <a:r>
              <a:rPr lang="fr-FR" sz="600" b="1" dirty="0" smtClean="0">
                <a:solidFill>
                  <a:srgbClr val="006C31"/>
                </a:solidFill>
                <a:latin typeface="Arial Rounded MT Bold" pitchFamily="34" charset="0"/>
              </a:rPr>
              <a:t>Deux  domaines métiers distincts :</a:t>
            </a:r>
          </a:p>
          <a:p>
            <a:pPr algn="just">
              <a:buFont typeface="Arial" pitchFamily="34" charset="0"/>
              <a:buChar char="•"/>
            </a:pPr>
            <a:r>
              <a:rPr lang="fr-FR" sz="300" b="1" dirty="0" smtClean="0">
                <a:solidFill>
                  <a:schemeClr val="accent2">
                    <a:lumMod val="50000"/>
                  </a:schemeClr>
                </a:solidFill>
                <a:latin typeface="Arial Rounded MT Bold" pitchFamily="34" charset="0"/>
              </a:rPr>
              <a:t> </a:t>
            </a:r>
          </a:p>
          <a:p>
            <a:pPr algn="just">
              <a:buFont typeface="Arial" pitchFamily="34" charset="0"/>
              <a:buChar char="•"/>
            </a:pPr>
            <a:r>
              <a:rPr lang="fr-FR" sz="600" b="1" dirty="0" smtClean="0">
                <a:solidFill>
                  <a:schemeClr val="bg1"/>
                </a:solidFill>
                <a:latin typeface="Arial Rounded MT Bold" pitchFamily="34" charset="0"/>
              </a:rPr>
              <a:t>SISR </a:t>
            </a:r>
            <a:r>
              <a:rPr lang="fr-FR" sz="600" b="1" i="1" dirty="0" smtClean="0">
                <a:solidFill>
                  <a:schemeClr val="bg1"/>
                </a:solidFill>
                <a:latin typeface="Arial Rounded MT Bold" pitchFamily="34" charset="0"/>
              </a:rPr>
              <a:t>(Solutions d’Infrastructure, Système et Réseau)</a:t>
            </a:r>
            <a:r>
              <a:rPr lang="fr-FR" sz="600" b="1" dirty="0" smtClean="0">
                <a:solidFill>
                  <a:schemeClr val="bg1"/>
                </a:solidFill>
                <a:latin typeface="Arial Rounded MT Bold" pitchFamily="34" charset="0"/>
              </a:rPr>
              <a:t>  :</a:t>
            </a:r>
          </a:p>
          <a:p>
            <a:pPr algn="just"/>
            <a:r>
              <a:rPr lang="fr-FR" sz="600" dirty="0" smtClean="0">
                <a:solidFill>
                  <a:schemeClr val="bg1"/>
                </a:solidFill>
                <a:latin typeface="Arial Rounded MT Bold" pitchFamily="34" charset="0"/>
              </a:rPr>
              <a:t>Le titulaire du diplôme participe à la production et à la fourniture de services en réalisant ou en adaptant des solutions d’infrastructure et en assurant le fonctionnement optimal des équipements. Il intervient plus particulièrement dans :</a:t>
            </a:r>
          </a:p>
          <a:p>
            <a:pPr marL="88900" indent="-88900" algn="just">
              <a:buFont typeface="Wingdings" pitchFamily="2" charset="2"/>
              <a:buChar char="Ø"/>
              <a:tabLst>
                <a:tab pos="88900" algn="l"/>
              </a:tabLst>
            </a:pPr>
            <a:r>
              <a:rPr lang="fr-FR" sz="600" dirty="0" smtClean="0">
                <a:solidFill>
                  <a:schemeClr val="bg1"/>
                </a:solidFill>
                <a:latin typeface="Arial Rounded MT Bold" pitchFamily="34" charset="0"/>
              </a:rPr>
              <a:t>L’installation, l’intégration, l’</a:t>
            </a:r>
            <a:r>
              <a:rPr lang="fr-FR" sz="600" dirty="0" err="1" smtClean="0">
                <a:solidFill>
                  <a:schemeClr val="bg1"/>
                </a:solidFill>
                <a:latin typeface="Arial Rounded MT Bold" pitchFamily="34" charset="0"/>
              </a:rPr>
              <a:t>admi-nistration</a:t>
            </a:r>
            <a:r>
              <a:rPr lang="fr-FR" sz="600" dirty="0" smtClean="0">
                <a:solidFill>
                  <a:schemeClr val="bg1"/>
                </a:solidFill>
                <a:latin typeface="Arial Rounded MT Bold" pitchFamily="34" charset="0"/>
              </a:rPr>
              <a:t>, la sécurisation des équipements et des services informatiques</a:t>
            </a:r>
          </a:p>
          <a:p>
            <a:pPr marL="88900" indent="-88900" algn="just">
              <a:buFont typeface="Wingdings" pitchFamily="2" charset="2"/>
              <a:buChar char="Ø"/>
              <a:tabLst>
                <a:tab pos="88900" algn="l"/>
              </a:tabLst>
            </a:pPr>
            <a:r>
              <a:rPr lang="fr-FR" sz="600" dirty="0" smtClean="0">
                <a:solidFill>
                  <a:schemeClr val="bg1"/>
                </a:solidFill>
                <a:latin typeface="Arial Rounded MT Bold" pitchFamily="34" charset="0"/>
              </a:rPr>
              <a:t>L’exploitation, la supervision et la maintenance d’une infrastructure</a:t>
            </a:r>
          </a:p>
          <a:p>
            <a:pPr marL="88900" indent="-88900" algn="just">
              <a:buFont typeface="Wingdings" pitchFamily="2" charset="2"/>
              <a:buChar char="Ø"/>
              <a:tabLst>
                <a:tab pos="88900" algn="l"/>
              </a:tabLst>
            </a:pPr>
            <a:r>
              <a:rPr lang="fr-FR" sz="600" dirty="0" smtClean="0">
                <a:solidFill>
                  <a:schemeClr val="bg1"/>
                </a:solidFill>
                <a:latin typeface="Arial Rounded MT Bold" pitchFamily="34" charset="0"/>
              </a:rPr>
              <a:t>La définition et la configuration des postes clients, des serveurs et des équipements d’interconnexion, leur déploiement et leur maintenance ;</a:t>
            </a:r>
          </a:p>
          <a:p>
            <a:pPr marL="88900" indent="-88900" algn="just">
              <a:buFont typeface="Wingdings" pitchFamily="2" charset="2"/>
              <a:buChar char="Ø"/>
              <a:tabLst>
                <a:tab pos="88900" algn="l"/>
              </a:tabLst>
            </a:pPr>
            <a:r>
              <a:rPr lang="fr-FR" sz="600" dirty="0" smtClean="0">
                <a:solidFill>
                  <a:schemeClr val="bg1"/>
                </a:solidFill>
                <a:latin typeface="Arial Rounded MT Bold" pitchFamily="34" charset="0"/>
              </a:rPr>
              <a:t>La gestion des actifs de l’infrastructure :</a:t>
            </a:r>
          </a:p>
          <a:p>
            <a:pPr marL="88900" indent="-88900" algn="just">
              <a:buFont typeface="Wingdings" pitchFamily="2" charset="2"/>
              <a:buChar char="Ø"/>
              <a:tabLst>
                <a:tab pos="88900" algn="l"/>
              </a:tabLst>
            </a:pPr>
            <a:r>
              <a:rPr lang="fr-FR" sz="600" dirty="0" smtClean="0">
                <a:solidFill>
                  <a:schemeClr val="bg1"/>
                </a:solidFill>
                <a:latin typeface="Arial Rounded MT Bold" pitchFamily="34" charset="0"/>
              </a:rPr>
              <a:t>La recherche de réponses adaptées à des besoins d’évolution de l’infrastructure ou à des problèmes liés à la mise à disposition des services informatiques</a:t>
            </a:r>
          </a:p>
          <a:p>
            <a:pPr marL="88900" indent="-88900" algn="just">
              <a:buFont typeface="Wingdings" pitchFamily="2" charset="2"/>
              <a:buChar char="Ø"/>
              <a:tabLst>
                <a:tab pos="88900" algn="l"/>
              </a:tabLst>
            </a:pPr>
            <a:r>
              <a:rPr lang="fr-FR" sz="600" dirty="0" smtClean="0">
                <a:solidFill>
                  <a:schemeClr val="bg1"/>
                </a:solidFill>
                <a:latin typeface="Arial Rounded MT Bold" pitchFamily="34" charset="0"/>
              </a:rPr>
              <a:t>La résolution des incidents et l’assistance des utilisateurs :</a:t>
            </a:r>
          </a:p>
          <a:p>
            <a:pPr marL="88900" indent="-88900" algn="just">
              <a:buFont typeface="Wingdings" pitchFamily="2" charset="2"/>
              <a:buChar char="Ø"/>
              <a:tabLst>
                <a:tab pos="88900" algn="l"/>
              </a:tabLst>
            </a:pPr>
            <a:r>
              <a:rPr lang="fr-FR" sz="600" dirty="0" smtClean="0">
                <a:solidFill>
                  <a:schemeClr val="bg1"/>
                </a:solidFill>
                <a:latin typeface="Arial Rounded MT Bold" pitchFamily="34" charset="0"/>
              </a:rPr>
              <a:t>Le maintien de la qualité des services informatiques.</a:t>
            </a:r>
          </a:p>
          <a:p>
            <a:pPr algn="just"/>
            <a:endParaRPr lang="fr-FR" sz="300" b="1" dirty="0" smtClean="0">
              <a:solidFill>
                <a:schemeClr val="bg1"/>
              </a:solidFill>
              <a:latin typeface="Arial Rounded MT Bold" pitchFamily="34" charset="0"/>
            </a:endParaRPr>
          </a:p>
          <a:p>
            <a:pPr algn="just"/>
            <a:r>
              <a:rPr lang="fr-FR" sz="600" b="1" dirty="0" smtClean="0">
                <a:solidFill>
                  <a:schemeClr val="bg1"/>
                </a:solidFill>
                <a:latin typeface="Arial Rounded MT Bold" pitchFamily="34" charset="0"/>
              </a:rPr>
              <a:t>Types de postes  SISR:</a:t>
            </a:r>
          </a:p>
          <a:p>
            <a:pPr marL="177800" indent="-88900">
              <a:buFont typeface="Wingdings" pitchFamily="2" charset="2"/>
              <a:buChar char="§"/>
              <a:tabLst>
                <a:tab pos="177800" algn="l"/>
              </a:tabLst>
            </a:pPr>
            <a:r>
              <a:rPr lang="fr-FR" sz="600" dirty="0" smtClean="0">
                <a:solidFill>
                  <a:schemeClr val="bg1"/>
                </a:solidFill>
                <a:latin typeface="Arial Rounded MT Bold" pitchFamily="34" charset="0"/>
              </a:rPr>
              <a:t>Administrateur systèmes et réseaux</a:t>
            </a:r>
          </a:p>
          <a:p>
            <a:pPr marL="177800" indent="-88900">
              <a:buFont typeface="Wingdings" pitchFamily="2" charset="2"/>
              <a:buChar char="§"/>
              <a:tabLst>
                <a:tab pos="177800" algn="l"/>
              </a:tabLst>
            </a:pPr>
            <a:r>
              <a:rPr lang="fr-FR" sz="600" dirty="0" smtClean="0">
                <a:solidFill>
                  <a:schemeClr val="bg1"/>
                </a:solidFill>
                <a:latin typeface="Arial Rounded MT Bold" pitchFamily="34" charset="0"/>
              </a:rPr>
              <a:t>Informaticien support et déploiement</a:t>
            </a:r>
          </a:p>
          <a:p>
            <a:pPr marL="177800" indent="-88900">
              <a:buFont typeface="Wingdings" pitchFamily="2" charset="2"/>
              <a:buChar char="§"/>
              <a:tabLst>
                <a:tab pos="177800" algn="l"/>
              </a:tabLst>
            </a:pPr>
            <a:r>
              <a:rPr lang="fr-FR" sz="600" dirty="0" smtClean="0">
                <a:solidFill>
                  <a:schemeClr val="bg1"/>
                </a:solidFill>
                <a:latin typeface="Arial Rounded MT Bold" pitchFamily="34" charset="0"/>
              </a:rPr>
              <a:t>Pilote d’exploitation</a:t>
            </a:r>
          </a:p>
          <a:p>
            <a:pPr marL="177800" indent="-88900">
              <a:buFont typeface="Wingdings" pitchFamily="2" charset="2"/>
              <a:buChar char="§"/>
              <a:tabLst>
                <a:tab pos="177800" algn="l"/>
              </a:tabLst>
            </a:pPr>
            <a:r>
              <a:rPr lang="fr-FR" sz="600" dirty="0" smtClean="0">
                <a:solidFill>
                  <a:schemeClr val="bg1"/>
                </a:solidFill>
                <a:latin typeface="Arial Rounded MT Bold" pitchFamily="34" charset="0"/>
              </a:rPr>
              <a:t>Support  systèmes et réseaux</a:t>
            </a:r>
          </a:p>
          <a:p>
            <a:pPr marL="177800" indent="-88900">
              <a:buFont typeface="Wingdings" pitchFamily="2" charset="2"/>
              <a:buChar char="§"/>
              <a:tabLst>
                <a:tab pos="177800" algn="l"/>
              </a:tabLst>
            </a:pPr>
            <a:r>
              <a:rPr lang="fr-FR" sz="600" dirty="0" smtClean="0">
                <a:solidFill>
                  <a:schemeClr val="bg1"/>
                </a:solidFill>
                <a:latin typeface="Arial Rounded MT Bold" pitchFamily="34" charset="0"/>
              </a:rPr>
              <a:t>Technicien d’infrastructure</a:t>
            </a:r>
          </a:p>
          <a:p>
            <a:pPr marL="177800" indent="-88900">
              <a:buFont typeface="Wingdings" pitchFamily="2" charset="2"/>
              <a:buChar char="§"/>
              <a:tabLst>
                <a:tab pos="177800" algn="l"/>
              </a:tabLst>
            </a:pPr>
            <a:r>
              <a:rPr lang="fr-FR" sz="600" dirty="0" smtClean="0">
                <a:solidFill>
                  <a:schemeClr val="bg1"/>
                </a:solidFill>
                <a:latin typeface="Arial Rounded MT Bold" pitchFamily="34" charset="0"/>
              </a:rPr>
              <a:t>Technicien de production</a:t>
            </a:r>
          </a:p>
          <a:p>
            <a:pPr marL="177800" indent="-88900">
              <a:buFont typeface="Wingdings" pitchFamily="2" charset="2"/>
              <a:buChar char="§"/>
              <a:tabLst>
                <a:tab pos="177800" algn="l"/>
              </a:tabLst>
            </a:pPr>
            <a:r>
              <a:rPr lang="fr-FR" sz="600" dirty="0" smtClean="0">
                <a:solidFill>
                  <a:schemeClr val="bg1"/>
                </a:solidFill>
                <a:latin typeface="Arial Rounded MT Bold" pitchFamily="34" charset="0"/>
              </a:rPr>
              <a:t>Technicien micro et réseaux</a:t>
            </a:r>
          </a:p>
          <a:p>
            <a:pPr marL="177800" indent="-88900">
              <a:buFont typeface="Wingdings" pitchFamily="2" charset="2"/>
              <a:buChar char="§"/>
              <a:tabLst>
                <a:tab pos="177800" algn="l"/>
              </a:tabLst>
            </a:pPr>
            <a:r>
              <a:rPr lang="fr-FR" sz="600" dirty="0" smtClean="0">
                <a:solidFill>
                  <a:schemeClr val="bg1"/>
                </a:solidFill>
                <a:latin typeface="Arial Rounded MT Bold" pitchFamily="34" charset="0"/>
              </a:rPr>
              <a:t>Technicien réseaux – télécoms</a:t>
            </a:r>
          </a:p>
          <a:p>
            <a:pPr algn="just"/>
            <a:endParaRPr lang="fr-FR" sz="300" dirty="0" smtClean="0">
              <a:solidFill>
                <a:schemeClr val="bg1"/>
              </a:solidFill>
              <a:latin typeface="Arial Rounded MT Bold" pitchFamily="34" charset="0"/>
            </a:endParaRPr>
          </a:p>
          <a:p>
            <a:pPr algn="just">
              <a:buFont typeface="Arial" pitchFamily="34" charset="0"/>
              <a:buChar char="•"/>
            </a:pPr>
            <a:r>
              <a:rPr lang="fr-FR" sz="600" dirty="0" smtClean="0">
                <a:solidFill>
                  <a:schemeClr val="bg1"/>
                </a:solidFill>
                <a:latin typeface="Arial Rounded MT Bold" pitchFamily="34" charset="0"/>
              </a:rPr>
              <a:t> </a:t>
            </a:r>
            <a:r>
              <a:rPr lang="fr-FR" sz="600" b="1" dirty="0" smtClean="0">
                <a:solidFill>
                  <a:schemeClr val="bg1"/>
                </a:solidFill>
                <a:latin typeface="Arial Rounded MT Bold" pitchFamily="34" charset="0"/>
              </a:rPr>
              <a:t>SLAM </a:t>
            </a:r>
            <a:r>
              <a:rPr lang="fr-FR" sz="600" b="1" i="1" dirty="0" smtClean="0">
                <a:solidFill>
                  <a:schemeClr val="bg1"/>
                </a:solidFill>
                <a:latin typeface="Arial Rounded MT Bold" pitchFamily="34" charset="0"/>
              </a:rPr>
              <a:t>(Solutions logicielles et Applications Métiers) </a:t>
            </a:r>
            <a:r>
              <a:rPr lang="fr-FR" sz="600" b="1" dirty="0" smtClean="0">
                <a:solidFill>
                  <a:schemeClr val="bg1"/>
                </a:solidFill>
                <a:latin typeface="Arial Rounded MT Bold" pitchFamily="34" charset="0"/>
              </a:rPr>
              <a:t>:</a:t>
            </a:r>
          </a:p>
          <a:p>
            <a:pPr algn="just"/>
            <a:r>
              <a:rPr lang="fr-FR" sz="600" dirty="0" smtClean="0">
                <a:solidFill>
                  <a:schemeClr val="bg1"/>
                </a:solidFill>
                <a:latin typeface="Arial Rounded MT Bold" pitchFamily="34" charset="0"/>
              </a:rPr>
              <a:t>Le titulaire du diplôme participe à la production et à la fourniture de services en développant, en adaptant ou en maintenant des solutions applicatives. Il intervient plus particulièrement dans :</a:t>
            </a:r>
          </a:p>
          <a:p>
            <a:pPr marL="88900" indent="-88900" algn="just">
              <a:buFont typeface="Wingdings" pitchFamily="2" charset="2"/>
              <a:buChar char="Ø"/>
              <a:tabLst>
                <a:tab pos="88900" algn="l"/>
              </a:tabLst>
            </a:pPr>
            <a:r>
              <a:rPr lang="fr-FR" sz="600" dirty="0" smtClean="0">
                <a:solidFill>
                  <a:schemeClr val="bg1"/>
                </a:solidFill>
                <a:latin typeface="Arial Rounded MT Bold" pitchFamily="34" charset="0"/>
              </a:rPr>
              <a:t>La définition des spécifications techniques à partir de l’expression des besoins des utilisateurs et des contraintes de l’organisation préalablement recensés</a:t>
            </a:r>
          </a:p>
          <a:p>
            <a:pPr marL="88900" indent="-88900" algn="just">
              <a:buFont typeface="Wingdings" pitchFamily="2" charset="2"/>
              <a:buChar char="Ø"/>
              <a:tabLst>
                <a:tab pos="88900" algn="l"/>
              </a:tabLst>
            </a:pPr>
            <a:endParaRPr lang="fr-FR" sz="600" dirty="0" smtClean="0">
              <a:solidFill>
                <a:schemeClr val="bg1"/>
              </a:solidFill>
              <a:latin typeface="Arial Rounded MT Bold" pitchFamily="34" charset="0"/>
            </a:endParaRPr>
          </a:p>
          <a:p>
            <a:pPr marL="88900" indent="-88900" algn="just">
              <a:buFont typeface="Wingdings" pitchFamily="2" charset="2"/>
              <a:buChar char="Ø"/>
              <a:tabLst>
                <a:tab pos="88900" algn="l"/>
              </a:tabLst>
            </a:pPr>
            <a:endParaRPr lang="fr-FR" sz="600" dirty="0" smtClean="0">
              <a:solidFill>
                <a:schemeClr val="bg1"/>
              </a:solidFill>
              <a:latin typeface="Arial Rounded MT Bold" pitchFamily="34" charset="0"/>
            </a:endParaRPr>
          </a:p>
          <a:p>
            <a:pPr marL="88900" indent="-88900" algn="just">
              <a:buFont typeface="Wingdings" pitchFamily="2" charset="2"/>
              <a:buChar char="Ø"/>
              <a:tabLst>
                <a:tab pos="88900" algn="l"/>
              </a:tabLst>
            </a:pPr>
            <a:endParaRPr lang="fr-FR" sz="300" dirty="0" smtClean="0">
              <a:solidFill>
                <a:schemeClr val="bg1"/>
              </a:solidFill>
              <a:latin typeface="Arial Rounded MT Bold" pitchFamily="34" charset="0"/>
            </a:endParaRPr>
          </a:p>
          <a:p>
            <a:pPr marL="88900" indent="-88900" algn="just">
              <a:buFont typeface="Wingdings" pitchFamily="2" charset="2"/>
              <a:buChar char="Ø"/>
              <a:tabLst>
                <a:tab pos="88900" algn="l"/>
              </a:tabLst>
            </a:pPr>
            <a:endParaRPr lang="fr-FR" sz="600" dirty="0" smtClean="0">
              <a:solidFill>
                <a:schemeClr val="bg1"/>
              </a:solidFill>
              <a:latin typeface="Arial Rounded MT Bold" pitchFamily="34" charset="0"/>
            </a:endParaRPr>
          </a:p>
          <a:p>
            <a:pPr marL="88900" indent="-88900" algn="just">
              <a:buFont typeface="Wingdings" pitchFamily="2" charset="2"/>
              <a:buChar char="Ø"/>
              <a:tabLst>
                <a:tab pos="88900" algn="l"/>
              </a:tabLst>
            </a:pPr>
            <a:r>
              <a:rPr lang="fr-FR" sz="600" dirty="0" smtClean="0">
                <a:solidFill>
                  <a:schemeClr val="bg1"/>
                </a:solidFill>
                <a:latin typeface="Arial Rounded MT Bold" pitchFamily="34" charset="0"/>
              </a:rPr>
              <a:t>La réalisation ou l’adaptation puis la validation de solutions applicatives à l’aide des environnements de développement retenus</a:t>
            </a:r>
          </a:p>
          <a:p>
            <a:pPr marL="88900" indent="-88900" algn="just">
              <a:buFont typeface="Wingdings" pitchFamily="2" charset="2"/>
              <a:buChar char="Ø"/>
              <a:tabLst>
                <a:tab pos="88900" algn="l"/>
              </a:tabLst>
            </a:pPr>
            <a:r>
              <a:rPr lang="fr-FR" sz="600" dirty="0" smtClean="0">
                <a:solidFill>
                  <a:schemeClr val="bg1"/>
                </a:solidFill>
                <a:latin typeface="Arial Rounded MT Bold" pitchFamily="34" charset="0"/>
              </a:rPr>
              <a:t>La gestion du patrimoine applicatif</a:t>
            </a:r>
          </a:p>
          <a:p>
            <a:pPr marL="88900" indent="-88900" algn="just">
              <a:buFont typeface="Wingdings" pitchFamily="2" charset="2"/>
              <a:buChar char="Ø"/>
              <a:tabLst>
                <a:tab pos="88900" algn="l"/>
              </a:tabLst>
            </a:pPr>
            <a:r>
              <a:rPr lang="fr-FR" sz="600" dirty="0" smtClean="0">
                <a:solidFill>
                  <a:schemeClr val="bg1"/>
                </a:solidFill>
                <a:latin typeface="Arial Rounded MT Bold" pitchFamily="34" charset="0"/>
              </a:rPr>
              <a:t>La rédaction de la documentation d’une solution applicative et la formation des utilisateurs</a:t>
            </a:r>
          </a:p>
          <a:p>
            <a:pPr marL="88900" indent="-88900" algn="just">
              <a:buFont typeface="Wingdings" pitchFamily="2" charset="2"/>
              <a:buChar char="Ø"/>
              <a:tabLst>
                <a:tab pos="88900" algn="l"/>
              </a:tabLst>
            </a:pPr>
            <a:r>
              <a:rPr lang="fr-FR" sz="600" dirty="0" smtClean="0">
                <a:solidFill>
                  <a:schemeClr val="bg1"/>
                </a:solidFill>
                <a:latin typeface="Arial Rounded MT Bold" pitchFamily="34" charset="0"/>
              </a:rPr>
              <a:t>La recherche de réponses adaptées à des problèmes liés à la fourniture des services informatiques</a:t>
            </a:r>
          </a:p>
          <a:p>
            <a:pPr marL="88900" indent="-88900" algn="just">
              <a:buFont typeface="Wingdings" pitchFamily="2" charset="2"/>
              <a:buChar char="Ø"/>
              <a:tabLst>
                <a:tab pos="88900" algn="l"/>
              </a:tabLst>
            </a:pPr>
            <a:r>
              <a:rPr lang="fr-FR" sz="600" dirty="0" smtClean="0">
                <a:solidFill>
                  <a:schemeClr val="bg1"/>
                </a:solidFill>
                <a:latin typeface="Arial Rounded MT Bold" pitchFamily="34" charset="0"/>
              </a:rPr>
              <a:t>L’accompagnement et l’assistance des utilisateurs</a:t>
            </a:r>
          </a:p>
          <a:p>
            <a:pPr marL="88900" indent="-88900" algn="just">
              <a:buFont typeface="Wingdings" pitchFamily="2" charset="2"/>
              <a:buChar char="Ø"/>
              <a:tabLst>
                <a:tab pos="88900" algn="l"/>
              </a:tabLst>
            </a:pPr>
            <a:r>
              <a:rPr lang="fr-FR" sz="600" dirty="0" smtClean="0">
                <a:solidFill>
                  <a:schemeClr val="bg1"/>
                </a:solidFill>
                <a:latin typeface="Arial Rounded MT Bold" pitchFamily="34" charset="0"/>
              </a:rPr>
              <a:t>Le maintien de la qualité des services informatiques.</a:t>
            </a:r>
          </a:p>
          <a:p>
            <a:endParaRPr lang="fr-FR" sz="300" b="1" dirty="0" smtClean="0">
              <a:solidFill>
                <a:schemeClr val="bg1"/>
              </a:solidFill>
              <a:latin typeface="Arial Rounded MT Bold" pitchFamily="34" charset="0"/>
            </a:endParaRPr>
          </a:p>
          <a:p>
            <a:r>
              <a:rPr lang="fr-FR" sz="600" b="1" dirty="0" smtClean="0">
                <a:solidFill>
                  <a:schemeClr val="bg1"/>
                </a:solidFill>
                <a:latin typeface="Arial Rounded MT Bold" pitchFamily="34" charset="0"/>
              </a:rPr>
              <a:t>Types de postes  SLAM :</a:t>
            </a:r>
          </a:p>
          <a:p>
            <a:pPr marL="177800" lvl="0" indent="-88900">
              <a:buFont typeface="Wingdings" pitchFamily="2" charset="2"/>
              <a:buChar char="§"/>
              <a:tabLst>
                <a:tab pos="177800" algn="l"/>
              </a:tabLst>
            </a:pPr>
            <a:r>
              <a:rPr lang="fr-FR" sz="550" dirty="0" smtClean="0">
                <a:solidFill>
                  <a:schemeClr val="bg1"/>
                </a:solidFill>
                <a:latin typeface="Arial Rounded MT Bold" pitchFamily="34" charset="0"/>
              </a:rPr>
              <a:t>Analyste d’applications</a:t>
            </a:r>
          </a:p>
          <a:p>
            <a:pPr marL="177800" lvl="0" indent="-88900">
              <a:buFont typeface="Wingdings" pitchFamily="2" charset="2"/>
              <a:buChar char="§"/>
              <a:tabLst>
                <a:tab pos="177800" algn="l"/>
              </a:tabLst>
            </a:pPr>
            <a:r>
              <a:rPr lang="fr-FR" sz="550" dirty="0" smtClean="0">
                <a:solidFill>
                  <a:schemeClr val="bg1"/>
                </a:solidFill>
                <a:latin typeface="Arial Rounded MT Bold" pitchFamily="34" charset="0"/>
              </a:rPr>
              <a:t>Analyste d’études</a:t>
            </a:r>
          </a:p>
          <a:p>
            <a:pPr marL="177800" lvl="0" indent="-88900">
              <a:buFont typeface="Wingdings" pitchFamily="2" charset="2"/>
              <a:buChar char="§"/>
              <a:tabLst>
                <a:tab pos="177800" algn="l"/>
              </a:tabLst>
            </a:pPr>
            <a:r>
              <a:rPr lang="fr-FR" sz="550" dirty="0" smtClean="0">
                <a:solidFill>
                  <a:schemeClr val="bg1"/>
                </a:solidFill>
                <a:latin typeface="Arial Rounded MT Bold" pitchFamily="34" charset="0"/>
              </a:rPr>
              <a:t>Analyste programmateur</a:t>
            </a:r>
          </a:p>
          <a:p>
            <a:pPr marL="177800" lvl="0" indent="-88900">
              <a:buFont typeface="Wingdings" pitchFamily="2" charset="2"/>
              <a:buChar char="§"/>
              <a:tabLst>
                <a:tab pos="177800" algn="l"/>
              </a:tabLst>
            </a:pPr>
            <a:r>
              <a:rPr lang="fr-FR" sz="550" dirty="0" smtClean="0">
                <a:solidFill>
                  <a:schemeClr val="bg1"/>
                </a:solidFill>
                <a:latin typeface="Arial Rounded MT Bold" pitchFamily="34" charset="0"/>
              </a:rPr>
              <a:t>Chargé d’études informatiques</a:t>
            </a:r>
          </a:p>
          <a:p>
            <a:pPr marL="177800" lvl="0" indent="-88900">
              <a:buFont typeface="Wingdings" pitchFamily="2" charset="2"/>
              <a:buChar char="§"/>
              <a:tabLst>
                <a:tab pos="177800" algn="l"/>
              </a:tabLst>
            </a:pPr>
            <a:r>
              <a:rPr lang="fr-FR" sz="550" dirty="0" smtClean="0">
                <a:solidFill>
                  <a:schemeClr val="bg1"/>
                </a:solidFill>
                <a:latin typeface="Arial Rounded MT Bold" pitchFamily="34" charset="0"/>
              </a:rPr>
              <a:t>Développeur d’applications informatiques</a:t>
            </a:r>
          </a:p>
          <a:p>
            <a:pPr marL="177800" lvl="0" indent="-88900">
              <a:buFont typeface="Wingdings" pitchFamily="2" charset="2"/>
              <a:buChar char="§"/>
              <a:tabLst>
                <a:tab pos="177800" algn="l"/>
              </a:tabLst>
            </a:pPr>
            <a:r>
              <a:rPr lang="fr-FR" sz="550" dirty="0" smtClean="0">
                <a:solidFill>
                  <a:schemeClr val="bg1"/>
                </a:solidFill>
                <a:latin typeface="Arial Rounded MT Bold" pitchFamily="34" charset="0"/>
              </a:rPr>
              <a:t>Informaticien d'études</a:t>
            </a:r>
          </a:p>
          <a:p>
            <a:pPr marL="177800" lvl="0" indent="-88900">
              <a:buFont typeface="Wingdings" pitchFamily="2" charset="2"/>
              <a:buChar char="§"/>
              <a:tabLst>
                <a:tab pos="177800" algn="l"/>
              </a:tabLst>
            </a:pPr>
            <a:r>
              <a:rPr lang="fr-FR" sz="550" dirty="0" smtClean="0">
                <a:solidFill>
                  <a:schemeClr val="bg1"/>
                </a:solidFill>
                <a:latin typeface="Arial Rounded MT Bold" pitchFamily="34" charset="0"/>
              </a:rPr>
              <a:t>Programmeur analyste</a:t>
            </a:r>
          </a:p>
          <a:p>
            <a:pPr marL="177800" lvl="0" indent="-88900">
              <a:buFont typeface="Wingdings" pitchFamily="2" charset="2"/>
              <a:buChar char="§"/>
              <a:tabLst>
                <a:tab pos="177800" algn="l"/>
              </a:tabLst>
            </a:pPr>
            <a:r>
              <a:rPr lang="fr-FR" sz="550" dirty="0" smtClean="0">
                <a:solidFill>
                  <a:schemeClr val="bg1"/>
                </a:solidFill>
                <a:latin typeface="Arial Rounded MT Bold" pitchFamily="34" charset="0"/>
              </a:rPr>
              <a:t>Programmeur d’applications</a:t>
            </a:r>
          </a:p>
          <a:p>
            <a:pPr marL="177800" lvl="0" indent="-88900">
              <a:buFont typeface="Wingdings" pitchFamily="2" charset="2"/>
              <a:buChar char="§"/>
              <a:tabLst>
                <a:tab pos="177800" algn="l"/>
              </a:tabLst>
            </a:pPr>
            <a:r>
              <a:rPr lang="fr-FR" sz="550" dirty="0" smtClean="0">
                <a:solidFill>
                  <a:schemeClr val="bg1"/>
                </a:solidFill>
                <a:latin typeface="Arial Rounded MT Bold" pitchFamily="34" charset="0"/>
              </a:rPr>
              <a:t>Responsable des services applicatifs</a:t>
            </a:r>
          </a:p>
          <a:p>
            <a:pPr marL="177800" lvl="0" indent="-88900">
              <a:buFont typeface="Wingdings" pitchFamily="2" charset="2"/>
              <a:buChar char="§"/>
              <a:tabLst>
                <a:tab pos="177800" algn="l"/>
              </a:tabLst>
            </a:pPr>
            <a:r>
              <a:rPr lang="fr-FR" sz="550" dirty="0" smtClean="0">
                <a:solidFill>
                  <a:schemeClr val="bg1"/>
                </a:solidFill>
                <a:latin typeface="Arial Rounded MT Bold" pitchFamily="34" charset="0"/>
              </a:rPr>
              <a:t>Technicien d’études informatiques.</a:t>
            </a:r>
            <a:br>
              <a:rPr lang="fr-FR" sz="550" dirty="0" smtClean="0">
                <a:solidFill>
                  <a:schemeClr val="bg1"/>
                </a:solidFill>
                <a:latin typeface="Arial Rounded MT Bold" pitchFamily="34" charset="0"/>
              </a:rPr>
            </a:br>
            <a:endParaRPr lang="fr-FR" sz="650" dirty="0" smtClean="0">
              <a:solidFill>
                <a:schemeClr val="bg1"/>
              </a:solidFill>
              <a:latin typeface="Arial Rounded MT Bold" pitchFamily="34" charset="0"/>
            </a:endParaRPr>
          </a:p>
          <a:p>
            <a:pPr lvl="0"/>
            <a:r>
              <a:rPr lang="fr-FR" sz="600" b="1" dirty="0" smtClean="0">
                <a:solidFill>
                  <a:srgbClr val="006C31"/>
                </a:solidFill>
                <a:latin typeface="Arial Rounded MT Bold" pitchFamily="34" charset="0"/>
              </a:rPr>
              <a:t>Quelles poursuites d’études ?</a:t>
            </a:r>
          </a:p>
          <a:p>
            <a:pPr lvl="0"/>
            <a:endParaRPr lang="fr-FR" sz="300" b="1" dirty="0" smtClean="0">
              <a:solidFill>
                <a:schemeClr val="accent2">
                  <a:lumMod val="50000"/>
                </a:schemeClr>
              </a:solidFill>
              <a:latin typeface="Arial Rounded MT Bold" pitchFamily="34" charset="0"/>
            </a:endParaRPr>
          </a:p>
          <a:p>
            <a:pPr algn="just"/>
            <a:r>
              <a:rPr lang="fr-FR" sz="600" dirty="0" smtClean="0">
                <a:solidFill>
                  <a:schemeClr val="bg1"/>
                </a:solidFill>
                <a:latin typeface="Arial Rounded MT Bold" pitchFamily="34" charset="0"/>
              </a:rPr>
              <a:t>Avec l’aménagement de la formation, un enrichissement des maths, un renforcement de la culture générale et de l’anglais, les opportunités de poursuites d’études sont améliorées. Elles sont fréquentes et appréciées en licence professionnelle car elles apportent à l’étudiant davantage d’expériences terrains. L’objectif affiché est de sécuriser les possibilités de poursuites d’études après le BTS, sans perte de temps. C’est donc un moyen pour les étudiants qui n’ont pas choisi des études longues de continuer et de réussir, jusqu’au niveau master pour les plus motivés.</a:t>
            </a:r>
          </a:p>
          <a:p>
            <a:pPr algn="just"/>
            <a:r>
              <a:rPr lang="fr-FR" sz="500" dirty="0" smtClean="0">
                <a:solidFill>
                  <a:schemeClr val="bg1"/>
                </a:solidFill>
                <a:latin typeface="Arial Rounded MT Bold" pitchFamily="34" charset="0"/>
              </a:rPr>
              <a:t> </a:t>
            </a:r>
          </a:p>
          <a:p>
            <a:pPr algn="just"/>
            <a:r>
              <a:rPr lang="fr-FR" sz="600" b="1" dirty="0" smtClean="0">
                <a:solidFill>
                  <a:srgbClr val="006C31"/>
                </a:solidFill>
                <a:latin typeface="Arial Rounded MT Bold" pitchFamily="34" charset="0"/>
              </a:rPr>
              <a:t>Les Stages en entreprises :</a:t>
            </a:r>
          </a:p>
          <a:p>
            <a:pPr algn="just"/>
            <a:endParaRPr lang="fr-FR" sz="300" b="1" dirty="0" smtClean="0">
              <a:solidFill>
                <a:schemeClr val="bg1"/>
              </a:solidFill>
              <a:latin typeface="Arial Rounded MT Bold" pitchFamily="34" charset="0"/>
            </a:endParaRPr>
          </a:p>
          <a:p>
            <a:pPr algn="just"/>
            <a:r>
              <a:rPr lang="fr-FR" sz="600" b="1" dirty="0" smtClean="0">
                <a:solidFill>
                  <a:schemeClr val="bg1"/>
                </a:solidFill>
                <a:latin typeface="Arial Rounded MT Bold" pitchFamily="34" charset="0"/>
              </a:rPr>
              <a:t>Objectifs : </a:t>
            </a:r>
            <a:r>
              <a:rPr lang="fr-FR" sz="600" dirty="0" smtClean="0">
                <a:solidFill>
                  <a:schemeClr val="bg1"/>
                </a:solidFill>
                <a:latin typeface="Arial Rounded MT Bold" pitchFamily="34" charset="0"/>
              </a:rPr>
              <a:t>Ils complètent utilement la formation et permettent aux étudiants d’acquérir des qualités relationnelles, des attitudes et des comportements professionnels.</a:t>
            </a:r>
          </a:p>
          <a:p>
            <a:pPr algn="just"/>
            <a:r>
              <a:rPr lang="fr-FR" sz="500" dirty="0" smtClean="0">
                <a:solidFill>
                  <a:schemeClr val="bg1"/>
                </a:solidFill>
                <a:latin typeface="Arial Rounded MT Bold" pitchFamily="34" charset="0"/>
              </a:rPr>
              <a:t> </a:t>
            </a:r>
          </a:p>
          <a:p>
            <a:pPr algn="just"/>
            <a:r>
              <a:rPr lang="fr-FR" sz="600" b="1" dirty="0" smtClean="0">
                <a:solidFill>
                  <a:schemeClr val="bg1"/>
                </a:solidFill>
                <a:latin typeface="Arial Rounded MT Bold" pitchFamily="34" charset="0"/>
              </a:rPr>
              <a:t>Lieu : </a:t>
            </a:r>
            <a:r>
              <a:rPr lang="fr-FR" sz="600" dirty="0" smtClean="0">
                <a:solidFill>
                  <a:schemeClr val="bg1"/>
                </a:solidFill>
                <a:latin typeface="Arial Rounded MT Bold" pitchFamily="34" charset="0"/>
              </a:rPr>
              <a:t>L’installation, le paramétrage, la formation de l’utilisateur, la </a:t>
            </a:r>
            <a:r>
              <a:rPr lang="fr-FR" sz="600" dirty="0" err="1" smtClean="0">
                <a:solidFill>
                  <a:schemeClr val="bg1"/>
                </a:solidFill>
                <a:latin typeface="Arial Rounded MT Bold" pitchFamily="34" charset="0"/>
              </a:rPr>
              <a:t>main-tenance</a:t>
            </a:r>
            <a:r>
              <a:rPr lang="fr-FR" sz="600" dirty="0" smtClean="0">
                <a:solidFill>
                  <a:schemeClr val="bg1"/>
                </a:solidFill>
                <a:latin typeface="Arial Rounded MT Bold" pitchFamily="34" charset="0"/>
              </a:rPr>
              <a:t> constituent la lot quotidien de l’administrateur de réseaux. En conséquence, les stages peuvent se dérouler dans des entreprises ou des organisations qui utilisent l’outil informatique.</a:t>
            </a:r>
          </a:p>
          <a:p>
            <a:r>
              <a:rPr lang="fr-FR" sz="500" dirty="0" smtClean="0">
                <a:solidFill>
                  <a:schemeClr val="bg1"/>
                </a:solidFill>
                <a:latin typeface="Arial Rounded MT Bold" pitchFamily="34" charset="0"/>
              </a:rPr>
              <a:t> </a:t>
            </a:r>
          </a:p>
          <a:p>
            <a:r>
              <a:rPr lang="fr-FR" sz="600" b="1" dirty="0" smtClean="0">
                <a:solidFill>
                  <a:schemeClr val="bg1"/>
                </a:solidFill>
                <a:latin typeface="Arial Rounded MT Bold" pitchFamily="34" charset="0"/>
              </a:rPr>
              <a:t>Durée : </a:t>
            </a:r>
          </a:p>
          <a:p>
            <a:r>
              <a:rPr lang="fr-FR" sz="600" dirty="0" smtClean="0">
                <a:solidFill>
                  <a:schemeClr val="bg1"/>
                </a:solidFill>
                <a:latin typeface="Arial Rounded MT Bold" pitchFamily="34" charset="0"/>
              </a:rPr>
              <a:t>10 semaines sur les deux ans.</a:t>
            </a:r>
          </a:p>
          <a:p>
            <a:endParaRPr lang="fr-FR" sz="300" dirty="0">
              <a:solidFill>
                <a:srgbClr val="002060"/>
              </a:solidFill>
              <a:latin typeface="Arial Rounded MT Bold" pitchFamily="34" charset="0"/>
            </a:endParaRPr>
          </a:p>
        </p:txBody>
      </p:sp>
      <p:sp>
        <p:nvSpPr>
          <p:cNvPr id="18" name="ZoneTexte 17"/>
          <p:cNvSpPr txBox="1"/>
          <p:nvPr/>
        </p:nvSpPr>
        <p:spPr>
          <a:xfrm>
            <a:off x="1712640" y="332656"/>
            <a:ext cx="2880320" cy="276999"/>
          </a:xfrm>
          <a:prstGeom prst="rect">
            <a:avLst/>
          </a:prstGeom>
          <a:noFill/>
        </p:spPr>
        <p:txBody>
          <a:bodyPr wrap="square" rtlCol="0">
            <a:spAutoFit/>
          </a:bodyPr>
          <a:lstStyle/>
          <a:p>
            <a:r>
              <a:rPr lang="fr-FR" sz="1200" b="1" dirty="0" smtClean="0">
                <a:solidFill>
                  <a:srgbClr val="006C31"/>
                </a:solidFill>
                <a:latin typeface="Arial Rounded MT Bold" pitchFamily="34" charset="0"/>
              </a:rPr>
              <a:t>En savoir plus sur la formation…</a:t>
            </a:r>
            <a:endParaRPr lang="fr-FR" sz="1200" b="1" dirty="0">
              <a:solidFill>
                <a:srgbClr val="006C31"/>
              </a:solidFill>
              <a:latin typeface="Arial Rounded MT Bold" pitchFamily="34" charset="0"/>
            </a:endParaRPr>
          </a:p>
        </p:txBody>
      </p:sp>
      <p:sp>
        <p:nvSpPr>
          <p:cNvPr id="7" name="Rectangle à coins arrondis 6"/>
          <p:cNvSpPr/>
          <p:nvPr/>
        </p:nvSpPr>
        <p:spPr>
          <a:xfrm>
            <a:off x="6825208" y="1340768"/>
            <a:ext cx="2652295" cy="1512168"/>
          </a:xfrm>
          <a:prstGeom prst="roundRect">
            <a:avLst/>
          </a:prstGeom>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lin ang="10800000" scaled="1"/>
            <a:tileRect/>
          </a:gradFill>
          <a:ln w="57150">
            <a:solidFill>
              <a:srgbClr val="006C31"/>
            </a:solidFill>
          </a:ln>
        </p:spPr>
        <p:style>
          <a:lnRef idx="1">
            <a:schemeClr val="accent2"/>
          </a:lnRef>
          <a:fillRef idx="2">
            <a:schemeClr val="accent2"/>
          </a:fillRef>
          <a:effectRef idx="1">
            <a:schemeClr val="accent2"/>
          </a:effectRef>
          <a:fontRef idx="minor">
            <a:schemeClr val="dk1"/>
          </a:fontRef>
        </p:style>
        <p:txBody>
          <a:bodyPr lIns="91428" tIns="45714" rIns="91428" bIns="45714" rtlCol="0" anchor="ctr"/>
          <a:lstStyle/>
          <a:p>
            <a:pPr algn="r"/>
            <a:r>
              <a:rPr lang="fr-FR" sz="1400" b="1" dirty="0" smtClean="0">
                <a:solidFill>
                  <a:srgbClr val="005828"/>
                </a:solidFill>
                <a:latin typeface="Arial Rounded MT Bold" pitchFamily="34" charset="0"/>
              </a:rPr>
              <a:t>Option</a:t>
            </a:r>
          </a:p>
          <a:p>
            <a:pPr algn="r"/>
            <a:endParaRPr lang="fr-FR" sz="1200" dirty="0" smtClean="0">
              <a:solidFill>
                <a:srgbClr val="005828"/>
              </a:solidFill>
              <a:latin typeface="Arial Rounded MT Bold" pitchFamily="34" charset="0"/>
            </a:endParaRPr>
          </a:p>
          <a:p>
            <a:pPr algn="r">
              <a:buFont typeface="Arial" pitchFamily="34" charset="0"/>
              <a:buChar char="•"/>
            </a:pPr>
            <a:r>
              <a:rPr lang="fr-FR" sz="1100" dirty="0" smtClean="0">
                <a:solidFill>
                  <a:srgbClr val="005828"/>
                </a:solidFill>
                <a:latin typeface="Arial Rounded MT Bold" pitchFamily="34" charset="0"/>
              </a:rPr>
              <a:t> </a:t>
            </a:r>
            <a:r>
              <a:rPr lang="fr-FR" sz="1200" dirty="0" smtClean="0">
                <a:solidFill>
                  <a:srgbClr val="005828"/>
                </a:solidFill>
                <a:latin typeface="Arial Rounded MT Bold" pitchFamily="34" charset="0"/>
              </a:rPr>
              <a:t>Solutions d’Infrastructures, Systèmes et Réseaux</a:t>
            </a:r>
          </a:p>
          <a:p>
            <a:pPr algn="r">
              <a:buFont typeface="Arial" pitchFamily="34" charset="0"/>
              <a:buChar char="•"/>
            </a:pPr>
            <a:endParaRPr lang="fr-FR" sz="1200" dirty="0" smtClean="0">
              <a:solidFill>
                <a:srgbClr val="005828"/>
              </a:solidFill>
              <a:latin typeface="Arial Rounded MT Bold" pitchFamily="34" charset="0"/>
            </a:endParaRPr>
          </a:p>
          <a:p>
            <a:pPr algn="r">
              <a:buFont typeface="Arial" pitchFamily="34" charset="0"/>
              <a:buChar char="•"/>
            </a:pPr>
            <a:r>
              <a:rPr lang="fr-FR" sz="1200" dirty="0" smtClean="0">
                <a:solidFill>
                  <a:srgbClr val="005828"/>
                </a:solidFill>
                <a:latin typeface="Arial Rounded MT Bold" pitchFamily="34" charset="0"/>
              </a:rPr>
              <a:t> Solutions Logicielles et Applications Métiers</a:t>
            </a:r>
            <a:endParaRPr lang="fr-FR" sz="1200" dirty="0">
              <a:solidFill>
                <a:srgbClr val="005828"/>
              </a:solidFill>
              <a:latin typeface="Arial Rounded MT Bold" pitchFamily="34" charset="0"/>
            </a:endParaRPr>
          </a:p>
        </p:txBody>
      </p:sp>
      <p:pic>
        <p:nvPicPr>
          <p:cNvPr id="21" name="Image 20" descr="Rz_63a.jpg"/>
          <p:cNvPicPr>
            <a:picLocks noChangeAspect="1"/>
          </p:cNvPicPr>
          <p:nvPr/>
        </p:nvPicPr>
        <p:blipFill>
          <a:blip r:embed="rId4" cstate="print"/>
          <a:stretch>
            <a:fillRect/>
          </a:stretch>
        </p:blipFill>
        <p:spPr>
          <a:xfrm>
            <a:off x="272480" y="2276872"/>
            <a:ext cx="1008000" cy="75600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24" name="Image 23" descr="lycee_monge_sans-marianne_HD.jpg"/>
          <p:cNvPicPr>
            <a:picLocks noChangeAspect="1"/>
          </p:cNvPicPr>
          <p:nvPr/>
        </p:nvPicPr>
        <p:blipFill>
          <a:blip r:embed="rId5" cstate="print">
            <a:clrChange>
              <a:clrFrom>
                <a:srgbClr val="FDFDFD"/>
              </a:clrFrom>
              <a:clrTo>
                <a:srgbClr val="FDFDFD">
                  <a:alpha val="0"/>
                </a:srgbClr>
              </a:clrTo>
            </a:clrChange>
          </a:blip>
          <a:stretch>
            <a:fillRect/>
          </a:stretch>
        </p:blipFill>
        <p:spPr>
          <a:xfrm>
            <a:off x="272480" y="332656"/>
            <a:ext cx="576064" cy="749371"/>
          </a:xfrm>
          <a:prstGeom prst="rect">
            <a:avLst/>
          </a:prstGeom>
        </p:spPr>
      </p:pic>
      <p:pic>
        <p:nvPicPr>
          <p:cNvPr id="25" name="Image 24" descr="lycee_monge_sans-marianne_HD.jpg"/>
          <p:cNvPicPr>
            <a:picLocks noChangeAspect="1"/>
          </p:cNvPicPr>
          <p:nvPr/>
        </p:nvPicPr>
        <p:blipFill>
          <a:blip r:embed="rId5" cstate="print"/>
          <a:stretch>
            <a:fillRect/>
          </a:stretch>
        </p:blipFill>
        <p:spPr>
          <a:xfrm>
            <a:off x="5241032" y="332656"/>
            <a:ext cx="996384" cy="1296144"/>
          </a:xfrm>
          <a:prstGeom prst="roundRect">
            <a:avLst>
              <a:gd name="adj" fmla="val 9657"/>
            </a:avLst>
          </a:prstGeom>
          <a:scene3d>
            <a:camera prst="orthographicFront"/>
            <a:lightRig rig="threePt" dir="t"/>
          </a:scene3d>
          <a:sp3d>
            <a:bevelT/>
          </a:sp3d>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à coins arrondis 12"/>
          <p:cNvSpPr/>
          <p:nvPr/>
        </p:nvSpPr>
        <p:spPr>
          <a:xfrm>
            <a:off x="128464" y="188640"/>
            <a:ext cx="1080120" cy="6552728"/>
          </a:xfrm>
          <a:prstGeom prst="roundRect">
            <a:avLst>
              <a:gd name="adj" fmla="val 7602"/>
            </a:avLst>
          </a:prstGeom>
          <a:gradFill flip="none" rotWithShape="1">
            <a:gsLst>
              <a:gs pos="0">
                <a:srgbClr val="A3FFCD">
                  <a:shade val="30000"/>
                  <a:satMod val="115000"/>
                </a:srgbClr>
              </a:gs>
              <a:gs pos="50000">
                <a:srgbClr val="A3FFCD">
                  <a:shade val="67500"/>
                  <a:satMod val="115000"/>
                </a:srgbClr>
              </a:gs>
              <a:gs pos="100000">
                <a:srgbClr val="A3FFCD">
                  <a:shade val="100000"/>
                  <a:satMod val="115000"/>
                </a:srgbClr>
              </a:gs>
            </a:gsLst>
            <a:lin ang="0" scaled="1"/>
            <a:tileRect/>
          </a:gradFill>
          <a:ln w="28575">
            <a:solidFill>
              <a:srgbClr val="005828"/>
            </a:solidFill>
          </a:ln>
        </p:spPr>
        <p:style>
          <a:lnRef idx="1">
            <a:schemeClr val="accent2"/>
          </a:lnRef>
          <a:fillRef idx="2">
            <a:schemeClr val="accent2"/>
          </a:fillRef>
          <a:effectRef idx="1">
            <a:schemeClr val="accent2"/>
          </a:effectRef>
          <a:fontRef idx="minor">
            <a:schemeClr val="dk1"/>
          </a:fontRef>
        </p:style>
        <p:txBody>
          <a:bodyPr lIns="91428" tIns="45714" rIns="91428" bIns="45714" rtlCol="0" anchor="ctr">
            <a:normAutofit/>
          </a:bodyPr>
          <a:lstStyle/>
          <a:p>
            <a:endParaRPr lang="fr-FR" sz="1200" dirty="0">
              <a:solidFill>
                <a:schemeClr val="bg2">
                  <a:lumMod val="60000"/>
                  <a:lumOff val="40000"/>
                </a:schemeClr>
              </a:solidFill>
              <a:latin typeface="Arial Rounded MT Bold" pitchFamily="34" charset="0"/>
            </a:endParaRPr>
          </a:p>
        </p:txBody>
      </p:sp>
      <p:sp>
        <p:nvSpPr>
          <p:cNvPr id="15" name="ZoneTexte 14"/>
          <p:cNvSpPr txBox="1"/>
          <p:nvPr/>
        </p:nvSpPr>
        <p:spPr>
          <a:xfrm>
            <a:off x="128464" y="332656"/>
            <a:ext cx="1080120" cy="5370701"/>
          </a:xfrm>
          <a:prstGeom prst="rect">
            <a:avLst/>
          </a:prstGeom>
          <a:noFill/>
        </p:spPr>
        <p:txBody>
          <a:bodyPr wrap="square" rtlCol="0">
            <a:spAutoFit/>
          </a:bodyPr>
          <a:lstStyle/>
          <a:p>
            <a:r>
              <a:rPr lang="fr-FR" sz="1200" dirty="0" smtClean="0">
                <a:solidFill>
                  <a:srgbClr val="006C31"/>
                </a:solidFill>
                <a:latin typeface="Arial Rounded MT Bold" pitchFamily="34" charset="0"/>
              </a:rPr>
              <a:t>Matériel :</a:t>
            </a:r>
          </a:p>
          <a:p>
            <a:endParaRPr lang="fr-FR" sz="1200" dirty="0" smtClean="0">
              <a:latin typeface="Arial Rounded MT Bold" pitchFamily="34" charset="0"/>
            </a:endParaRPr>
          </a:p>
          <a:p>
            <a:endParaRPr lang="fr-FR" sz="1200" dirty="0" smtClean="0">
              <a:latin typeface="Arial Rounded MT Bold" pitchFamily="34" charset="0"/>
            </a:endParaRPr>
          </a:p>
          <a:p>
            <a:r>
              <a:rPr lang="fr-FR" sz="900" dirty="0" smtClean="0">
                <a:solidFill>
                  <a:schemeClr val="bg1">
                    <a:lumMod val="85000"/>
                    <a:lumOff val="15000"/>
                  </a:schemeClr>
                </a:solidFill>
                <a:latin typeface="Arial Rounded MT Bold" pitchFamily="34" charset="0"/>
              </a:rPr>
              <a:t>Un partenariat avec CISCO permet l’utilisation d’équipements adaptés à la profession:</a:t>
            </a:r>
          </a:p>
          <a:p>
            <a:endParaRPr lang="fr-FR" sz="1200" dirty="0" smtClean="0">
              <a:latin typeface="Arial Rounded MT Bold" pitchFamily="34" charset="0"/>
            </a:endParaRPr>
          </a:p>
          <a:p>
            <a:pPr marL="88900" indent="-88900">
              <a:buFont typeface="Arial" pitchFamily="34" charset="0"/>
              <a:buChar char="•"/>
              <a:tabLst>
                <a:tab pos="88900" algn="l"/>
              </a:tabLst>
            </a:pPr>
            <a:r>
              <a:rPr lang="fr-FR" sz="800" dirty="0" smtClean="0">
                <a:solidFill>
                  <a:srgbClr val="006C31"/>
                </a:solidFill>
                <a:latin typeface="Arial Rounded MT Bold" pitchFamily="34" charset="0"/>
              </a:rPr>
              <a:t>des ordinateurs portables multimédias en réseau connectés à l’internet</a:t>
            </a:r>
          </a:p>
          <a:p>
            <a:pPr marL="88900" indent="-88900">
              <a:buFontTx/>
              <a:buChar char="-"/>
              <a:tabLst>
                <a:tab pos="88900" algn="l"/>
              </a:tabLst>
            </a:pPr>
            <a:endParaRPr lang="fr-FR" sz="800" dirty="0" smtClean="0">
              <a:solidFill>
                <a:srgbClr val="006C31"/>
              </a:solidFill>
              <a:latin typeface="Arial Rounded MT Bold" pitchFamily="34" charset="0"/>
            </a:endParaRPr>
          </a:p>
          <a:p>
            <a:pPr marL="88900" indent="-88900">
              <a:buFont typeface="Arial" pitchFamily="34" charset="0"/>
              <a:buChar char="•"/>
              <a:tabLst>
                <a:tab pos="88900" algn="l"/>
              </a:tabLst>
            </a:pPr>
            <a:r>
              <a:rPr lang="fr-FR" sz="800" dirty="0" smtClean="0">
                <a:solidFill>
                  <a:srgbClr val="006C31"/>
                </a:solidFill>
                <a:latin typeface="Arial Rounded MT Bold" pitchFamily="34" charset="0"/>
              </a:rPr>
              <a:t>des documents déposés sur l’Intranet de la section</a:t>
            </a:r>
          </a:p>
          <a:p>
            <a:pPr marL="88900" indent="-88900">
              <a:buFontTx/>
              <a:buChar char="-"/>
              <a:tabLst>
                <a:tab pos="88900" algn="l"/>
              </a:tabLst>
            </a:pPr>
            <a:endParaRPr lang="fr-FR" sz="800" dirty="0" smtClean="0">
              <a:solidFill>
                <a:srgbClr val="006C31"/>
              </a:solidFill>
              <a:latin typeface="Arial Rounded MT Bold" pitchFamily="34" charset="0"/>
            </a:endParaRPr>
          </a:p>
          <a:p>
            <a:pPr marL="88900" indent="-88900">
              <a:buFont typeface="Arial" pitchFamily="34" charset="0"/>
              <a:buChar char="•"/>
              <a:tabLst>
                <a:tab pos="88900" algn="l"/>
              </a:tabLst>
            </a:pPr>
            <a:r>
              <a:rPr lang="fr-FR" sz="800" dirty="0" smtClean="0">
                <a:solidFill>
                  <a:srgbClr val="006C31"/>
                </a:solidFill>
                <a:latin typeface="Arial Rounded MT Bold" pitchFamily="34" charset="0"/>
              </a:rPr>
              <a:t>des ateliers composés d’ordinateurs pour l’étude et l’administration des réseaux :</a:t>
            </a:r>
            <a:br>
              <a:rPr lang="fr-FR" sz="800" dirty="0" smtClean="0">
                <a:solidFill>
                  <a:srgbClr val="006C31"/>
                </a:solidFill>
                <a:latin typeface="Arial Rounded MT Bold" pitchFamily="34" charset="0"/>
              </a:rPr>
            </a:br>
            <a:r>
              <a:rPr lang="fr-FR" sz="800" dirty="0" smtClean="0">
                <a:solidFill>
                  <a:srgbClr val="006C31"/>
                </a:solidFill>
                <a:latin typeface="Arial Rounded MT Bold" pitchFamily="34" charset="0"/>
              </a:rPr>
              <a:t>- Serveur Linux, - Windows, </a:t>
            </a:r>
            <a:br>
              <a:rPr lang="fr-FR" sz="800" dirty="0" smtClean="0">
                <a:solidFill>
                  <a:srgbClr val="006C31"/>
                </a:solidFill>
                <a:latin typeface="Arial Rounded MT Bold" pitchFamily="34" charset="0"/>
              </a:rPr>
            </a:br>
            <a:r>
              <a:rPr lang="fr-FR" sz="800" dirty="0" smtClean="0">
                <a:solidFill>
                  <a:srgbClr val="006C31"/>
                </a:solidFill>
                <a:latin typeface="Arial Rounded MT Bold" pitchFamily="34" charset="0"/>
              </a:rPr>
              <a:t>- </a:t>
            </a:r>
            <a:r>
              <a:rPr lang="fr-FR" sz="800" dirty="0" err="1" smtClean="0">
                <a:solidFill>
                  <a:srgbClr val="006C31"/>
                </a:solidFill>
                <a:latin typeface="Arial Rounded MT Bold" pitchFamily="34" charset="0"/>
              </a:rPr>
              <a:t>Vmware</a:t>
            </a:r>
            <a:r>
              <a:rPr lang="fr-FR" sz="800" dirty="0" smtClean="0">
                <a:solidFill>
                  <a:srgbClr val="006C31"/>
                </a:solidFill>
                <a:latin typeface="Arial Rounded MT Bold" pitchFamily="34" charset="0"/>
              </a:rPr>
              <a:t>…</a:t>
            </a:r>
          </a:p>
          <a:p>
            <a:pPr marL="88900" indent="-88900">
              <a:buFont typeface="Arial" pitchFamily="34" charset="0"/>
              <a:buChar char="•"/>
              <a:tabLst>
                <a:tab pos="88900" algn="l"/>
              </a:tabLst>
            </a:pPr>
            <a:endParaRPr lang="fr-FR" sz="800" dirty="0" smtClean="0">
              <a:solidFill>
                <a:srgbClr val="006C31"/>
              </a:solidFill>
              <a:latin typeface="Arial Rounded MT Bold" pitchFamily="34" charset="0"/>
            </a:endParaRPr>
          </a:p>
          <a:p>
            <a:pPr marL="88900" indent="-88900">
              <a:buFont typeface="Arial" pitchFamily="34" charset="0"/>
              <a:buChar char="•"/>
              <a:tabLst>
                <a:tab pos="88900" algn="l"/>
              </a:tabLst>
            </a:pPr>
            <a:r>
              <a:rPr lang="fr-FR" sz="800" dirty="0" smtClean="0">
                <a:solidFill>
                  <a:srgbClr val="006C31"/>
                </a:solidFill>
                <a:latin typeface="Arial Rounded MT Bold" pitchFamily="34" charset="0"/>
              </a:rPr>
              <a:t> des heures d’accès libre</a:t>
            </a:r>
          </a:p>
          <a:p>
            <a:pPr marL="88900" indent="-88900">
              <a:buFontTx/>
              <a:buChar char="-"/>
              <a:tabLst>
                <a:tab pos="88900" algn="l"/>
              </a:tabLst>
            </a:pPr>
            <a:endParaRPr lang="fr-FR" sz="800" dirty="0" smtClean="0">
              <a:solidFill>
                <a:srgbClr val="006C31"/>
              </a:solidFill>
              <a:latin typeface="Arial Rounded MT Bold" pitchFamily="34" charset="0"/>
            </a:endParaRPr>
          </a:p>
          <a:p>
            <a:pPr marL="88900" indent="-88900">
              <a:buFont typeface="Arial" pitchFamily="34" charset="0"/>
              <a:buChar char="•"/>
              <a:tabLst>
                <a:tab pos="88900" algn="l"/>
              </a:tabLst>
            </a:pPr>
            <a:r>
              <a:rPr lang="fr-FR" sz="800" dirty="0" smtClean="0">
                <a:solidFill>
                  <a:srgbClr val="006C31"/>
                </a:solidFill>
                <a:latin typeface="Arial Rounded MT Bold" pitchFamily="34" charset="0"/>
              </a:rPr>
              <a:t> possibilité de passer des certifications CISCO</a:t>
            </a:r>
            <a:endParaRPr lang="fr-FR" sz="400" dirty="0">
              <a:solidFill>
                <a:srgbClr val="006C31"/>
              </a:solidFill>
              <a:latin typeface="Arial Rounded MT Bold" pitchFamily="34" charset="0"/>
            </a:endParaRPr>
          </a:p>
        </p:txBody>
      </p:sp>
      <p:graphicFrame>
        <p:nvGraphicFramePr>
          <p:cNvPr id="16" name="Tableau 15"/>
          <p:cNvGraphicFramePr>
            <a:graphicFrameLocks noGrp="1"/>
          </p:cNvGraphicFramePr>
          <p:nvPr/>
        </p:nvGraphicFramePr>
        <p:xfrm>
          <a:off x="1424608" y="620688"/>
          <a:ext cx="3240000" cy="3302320"/>
        </p:xfrm>
        <a:graphic>
          <a:graphicData uri="http://schemas.openxmlformats.org/drawingml/2006/table">
            <a:tbl>
              <a:tblPr firstRow="1" bandRow="1">
                <a:tableStyleId>{284E427A-3D55-4303-BF80-6455036E1DE7}</a:tableStyleId>
              </a:tblPr>
              <a:tblGrid>
                <a:gridCol w="1620000"/>
                <a:gridCol w="810000"/>
                <a:gridCol w="810000"/>
              </a:tblGrid>
              <a:tr h="370840">
                <a:tc>
                  <a:txBody>
                    <a:bodyPr/>
                    <a:lstStyle/>
                    <a:p>
                      <a:pPr algn="ctr"/>
                      <a:r>
                        <a:rPr lang="fr-FR" sz="700" dirty="0" smtClean="0">
                          <a:latin typeface="Arial Rounded MT Bold" pitchFamily="34" charset="0"/>
                        </a:rPr>
                        <a:t>Matières</a:t>
                      </a:r>
                      <a:endParaRPr lang="fr-FR" sz="700" dirty="0">
                        <a:latin typeface="Arial Rounded MT Bold" pitchFamily="34" charset="0"/>
                      </a:endParaRPr>
                    </a:p>
                  </a:txBody>
                  <a:tcPr anchor="ctr">
                    <a:solidFill>
                      <a:srgbClr val="00B050"/>
                    </a:solidFill>
                  </a:tcPr>
                </a:tc>
                <a:tc>
                  <a:txBody>
                    <a:bodyPr/>
                    <a:lstStyle/>
                    <a:p>
                      <a:pPr algn="ctr"/>
                      <a:r>
                        <a:rPr lang="fr-FR" sz="700" baseline="0" dirty="0" smtClean="0">
                          <a:latin typeface="Arial Rounded MT Bold" pitchFamily="34" charset="0"/>
                        </a:rPr>
                        <a:t>Horaires </a:t>
                      </a:r>
                    </a:p>
                    <a:p>
                      <a:pPr algn="ctr"/>
                      <a:r>
                        <a:rPr lang="fr-FR" sz="700" baseline="0" dirty="0" smtClean="0">
                          <a:latin typeface="Arial Rounded MT Bold" pitchFamily="34" charset="0"/>
                        </a:rPr>
                        <a:t>1</a:t>
                      </a:r>
                      <a:r>
                        <a:rPr lang="fr-FR" sz="700" baseline="30000" dirty="0" smtClean="0">
                          <a:latin typeface="Arial Rounded MT Bold" pitchFamily="34" charset="0"/>
                        </a:rPr>
                        <a:t>ère</a:t>
                      </a:r>
                      <a:r>
                        <a:rPr lang="fr-FR" sz="700" baseline="0" dirty="0" smtClean="0">
                          <a:latin typeface="Arial Rounded MT Bold" pitchFamily="34" charset="0"/>
                        </a:rPr>
                        <a:t> année</a:t>
                      </a:r>
                    </a:p>
                  </a:txBody>
                  <a:tcPr anchor="ctr">
                    <a:solidFill>
                      <a:srgbClr val="00B050"/>
                    </a:solidFill>
                  </a:tcPr>
                </a:tc>
                <a:tc>
                  <a:txBody>
                    <a:bodyPr/>
                    <a:lstStyle/>
                    <a:p>
                      <a:pPr algn="ctr"/>
                      <a:r>
                        <a:rPr lang="fr-FR" sz="700" baseline="0" dirty="0" smtClean="0">
                          <a:latin typeface="Arial Rounded MT Bold" pitchFamily="34" charset="0"/>
                        </a:rPr>
                        <a:t>Horaires </a:t>
                      </a:r>
                    </a:p>
                    <a:p>
                      <a:pPr algn="ctr"/>
                      <a:r>
                        <a:rPr lang="fr-FR" sz="700" baseline="0" dirty="0" smtClean="0">
                          <a:latin typeface="Arial Rounded MT Bold" pitchFamily="34" charset="0"/>
                        </a:rPr>
                        <a:t>2</a:t>
                      </a:r>
                      <a:r>
                        <a:rPr lang="fr-FR" sz="700" baseline="30000" dirty="0" smtClean="0">
                          <a:latin typeface="Arial Rounded MT Bold" pitchFamily="34" charset="0"/>
                        </a:rPr>
                        <a:t>ème</a:t>
                      </a:r>
                      <a:r>
                        <a:rPr lang="fr-FR" sz="700" baseline="0" dirty="0" smtClean="0">
                          <a:latin typeface="Arial Rounded MT Bold" pitchFamily="34" charset="0"/>
                        </a:rPr>
                        <a:t> année</a:t>
                      </a:r>
                    </a:p>
                  </a:txBody>
                  <a:tcPr anchor="ctr">
                    <a:solidFill>
                      <a:srgbClr val="00B050"/>
                    </a:solidFill>
                  </a:tcPr>
                </a:tc>
              </a:tr>
              <a:tr h="360000">
                <a:tc>
                  <a:txBody>
                    <a:bodyPr/>
                    <a:lstStyle/>
                    <a:p>
                      <a:pPr algn="l"/>
                      <a:r>
                        <a:rPr lang="fr-FR" sz="700" dirty="0" smtClean="0">
                          <a:latin typeface="Arial Rounded MT Bold" pitchFamily="34" charset="0"/>
                        </a:rPr>
                        <a:t>Culture générale et expression</a:t>
                      </a:r>
                      <a:endParaRPr lang="fr-FR" sz="700" dirty="0">
                        <a:latin typeface="Arial Rounded MT Bold" pitchFamily="34" charset="0"/>
                      </a:endParaRPr>
                    </a:p>
                  </a:txBody>
                  <a:tcPr anchor="ctr">
                    <a:solidFill>
                      <a:srgbClr val="A3FFCD"/>
                    </a:solidFill>
                  </a:tcPr>
                </a:tc>
                <a:tc>
                  <a:txBody>
                    <a:bodyPr/>
                    <a:lstStyle/>
                    <a:p>
                      <a:pPr algn="ctr"/>
                      <a:r>
                        <a:rPr lang="fr-FR" sz="700" dirty="0" smtClean="0">
                          <a:latin typeface="Arial Rounded MT Bold" pitchFamily="34" charset="0"/>
                        </a:rPr>
                        <a:t>3</a:t>
                      </a:r>
                      <a:endParaRPr lang="fr-FR" sz="700" dirty="0">
                        <a:latin typeface="Arial Rounded MT Bold" pitchFamily="34" charset="0"/>
                      </a:endParaRPr>
                    </a:p>
                  </a:txBody>
                  <a:tcPr anchor="ctr">
                    <a:solidFill>
                      <a:srgbClr val="A3FFCD"/>
                    </a:solidFill>
                  </a:tcPr>
                </a:tc>
                <a:tc>
                  <a:txBody>
                    <a:bodyPr/>
                    <a:lstStyle/>
                    <a:p>
                      <a:pPr algn="ctr"/>
                      <a:r>
                        <a:rPr lang="fr-FR" sz="700" dirty="0" smtClean="0">
                          <a:latin typeface="Arial Rounded MT Bold" pitchFamily="34" charset="0"/>
                        </a:rPr>
                        <a:t>2</a:t>
                      </a:r>
                    </a:p>
                  </a:txBody>
                  <a:tcPr anchor="ctr">
                    <a:solidFill>
                      <a:srgbClr val="A3FFCD"/>
                    </a:solidFill>
                  </a:tcPr>
                </a:tc>
              </a:tr>
              <a:tr h="360000">
                <a:tc>
                  <a:txBody>
                    <a:bodyPr/>
                    <a:lstStyle/>
                    <a:p>
                      <a:pPr algn="l"/>
                      <a:r>
                        <a:rPr lang="fr-FR" sz="700" dirty="0" smtClean="0">
                          <a:latin typeface="Arial Rounded MT Bold" pitchFamily="34" charset="0"/>
                        </a:rPr>
                        <a:t>Expression et communication en langue anglaise</a:t>
                      </a:r>
                      <a:endParaRPr lang="fr-FR" sz="700" dirty="0">
                        <a:latin typeface="Arial Rounded MT Bold" pitchFamily="34" charset="0"/>
                      </a:endParaRPr>
                    </a:p>
                  </a:txBody>
                  <a:tcPr anchor="ctr">
                    <a:solidFill>
                      <a:srgbClr val="A3FFCD"/>
                    </a:solidFill>
                  </a:tcPr>
                </a:tc>
                <a:tc>
                  <a:txBody>
                    <a:bodyPr/>
                    <a:lstStyle/>
                    <a:p>
                      <a:pPr algn="ctr"/>
                      <a:r>
                        <a:rPr lang="fr-FR" sz="700" dirty="0" smtClean="0">
                          <a:latin typeface="Arial Rounded MT Bold" pitchFamily="34" charset="0"/>
                        </a:rPr>
                        <a:t>3</a:t>
                      </a:r>
                      <a:endParaRPr lang="fr-FR" sz="700" dirty="0">
                        <a:latin typeface="Arial Rounded MT Bold" pitchFamily="34" charset="0"/>
                      </a:endParaRPr>
                    </a:p>
                  </a:txBody>
                  <a:tcPr anchor="ctr">
                    <a:solidFill>
                      <a:srgbClr val="A3FFCD"/>
                    </a:solidFill>
                  </a:tcPr>
                </a:tc>
                <a:tc>
                  <a:txBody>
                    <a:bodyPr/>
                    <a:lstStyle/>
                    <a:p>
                      <a:pPr algn="ctr"/>
                      <a:r>
                        <a:rPr lang="fr-FR" sz="700" dirty="0" smtClean="0">
                          <a:latin typeface="Arial Rounded MT Bold" pitchFamily="34" charset="0"/>
                        </a:rPr>
                        <a:t>2</a:t>
                      </a:r>
                      <a:endParaRPr lang="fr-FR" sz="700" dirty="0">
                        <a:latin typeface="Arial Rounded MT Bold" pitchFamily="34" charset="0"/>
                      </a:endParaRPr>
                    </a:p>
                  </a:txBody>
                  <a:tcPr anchor="ctr">
                    <a:solidFill>
                      <a:srgbClr val="A3FFCD"/>
                    </a:solidFill>
                  </a:tcPr>
                </a:tc>
              </a:tr>
              <a:tr h="360000">
                <a:tc>
                  <a:txBody>
                    <a:bodyPr/>
                    <a:lstStyle/>
                    <a:p>
                      <a:pPr algn="l"/>
                      <a:r>
                        <a:rPr lang="fr-FR" sz="700" dirty="0" smtClean="0">
                          <a:latin typeface="Arial Rounded MT Bold" pitchFamily="34" charset="0"/>
                        </a:rPr>
                        <a:t>Mathématiques pour l’informatique</a:t>
                      </a:r>
                      <a:endParaRPr lang="fr-FR" sz="700" dirty="0">
                        <a:latin typeface="Arial Rounded MT Bold" pitchFamily="34" charset="0"/>
                      </a:endParaRPr>
                    </a:p>
                  </a:txBody>
                  <a:tcPr anchor="ctr">
                    <a:solidFill>
                      <a:srgbClr val="A3FFCD"/>
                    </a:solidFill>
                  </a:tcPr>
                </a:tc>
                <a:tc>
                  <a:txBody>
                    <a:bodyPr/>
                    <a:lstStyle/>
                    <a:p>
                      <a:pPr algn="ctr"/>
                      <a:r>
                        <a:rPr lang="fr-FR" sz="700" dirty="0" smtClean="0">
                          <a:latin typeface="Arial Rounded MT Bold" pitchFamily="34" charset="0"/>
                        </a:rPr>
                        <a:t>3</a:t>
                      </a:r>
                      <a:endParaRPr lang="fr-FR" sz="700" dirty="0">
                        <a:latin typeface="Arial Rounded MT Bold" pitchFamily="34" charset="0"/>
                      </a:endParaRPr>
                    </a:p>
                  </a:txBody>
                  <a:tcPr anchor="ctr">
                    <a:solidFill>
                      <a:srgbClr val="A3FFCD"/>
                    </a:solidFill>
                  </a:tcPr>
                </a:tc>
                <a:tc>
                  <a:txBody>
                    <a:bodyPr/>
                    <a:lstStyle/>
                    <a:p>
                      <a:pPr algn="ctr"/>
                      <a:r>
                        <a:rPr lang="fr-FR" sz="700" dirty="0" smtClean="0">
                          <a:latin typeface="Arial Rounded MT Bold" pitchFamily="34" charset="0"/>
                        </a:rPr>
                        <a:t>3</a:t>
                      </a:r>
                      <a:endParaRPr lang="fr-FR" sz="700" dirty="0">
                        <a:latin typeface="Arial Rounded MT Bold" pitchFamily="34" charset="0"/>
                      </a:endParaRPr>
                    </a:p>
                  </a:txBody>
                  <a:tcPr anchor="ctr">
                    <a:solidFill>
                      <a:srgbClr val="A3FFCD"/>
                    </a:solidFill>
                  </a:tcPr>
                </a:tc>
              </a:tr>
              <a:tr h="360000">
                <a:tc>
                  <a:txBody>
                    <a:bodyPr/>
                    <a:lstStyle/>
                    <a:p>
                      <a:pPr algn="l"/>
                      <a:r>
                        <a:rPr lang="fr-FR" sz="700" dirty="0" smtClean="0">
                          <a:latin typeface="Arial Rounded MT Bold" pitchFamily="34" charset="0"/>
                        </a:rPr>
                        <a:t>Analyse économique, managériale et juridique des services informatiques</a:t>
                      </a:r>
                      <a:endParaRPr lang="fr-FR" sz="700" dirty="0">
                        <a:latin typeface="Arial Rounded MT Bold" pitchFamily="34" charset="0"/>
                      </a:endParaRPr>
                    </a:p>
                  </a:txBody>
                  <a:tcPr anchor="ctr">
                    <a:solidFill>
                      <a:srgbClr val="A3FFCD"/>
                    </a:solidFill>
                  </a:tcPr>
                </a:tc>
                <a:tc>
                  <a:txBody>
                    <a:bodyPr/>
                    <a:lstStyle/>
                    <a:p>
                      <a:pPr algn="ctr"/>
                      <a:r>
                        <a:rPr lang="fr-FR" sz="700" dirty="0" smtClean="0">
                          <a:latin typeface="Arial Rounded MT Bold" pitchFamily="34" charset="0"/>
                        </a:rPr>
                        <a:t>5</a:t>
                      </a:r>
                      <a:endParaRPr lang="fr-FR" sz="700" dirty="0">
                        <a:latin typeface="Arial Rounded MT Bold" pitchFamily="34" charset="0"/>
                      </a:endParaRPr>
                    </a:p>
                  </a:txBody>
                  <a:tcPr anchor="ctr">
                    <a:solidFill>
                      <a:srgbClr val="A3FFCD"/>
                    </a:solidFill>
                  </a:tcPr>
                </a:tc>
                <a:tc>
                  <a:txBody>
                    <a:bodyPr/>
                    <a:lstStyle/>
                    <a:p>
                      <a:pPr algn="ctr"/>
                      <a:r>
                        <a:rPr lang="fr-FR" sz="700" dirty="0" smtClean="0">
                          <a:latin typeface="Arial Rounded MT Bold" pitchFamily="34" charset="0"/>
                        </a:rPr>
                        <a:t>5</a:t>
                      </a:r>
                      <a:endParaRPr lang="fr-FR" sz="700" dirty="0">
                        <a:latin typeface="Arial Rounded MT Bold" pitchFamily="34" charset="0"/>
                      </a:endParaRPr>
                    </a:p>
                  </a:txBody>
                  <a:tcPr anchor="ctr">
                    <a:solidFill>
                      <a:srgbClr val="A3FFCD"/>
                    </a:solidFill>
                  </a:tcPr>
                </a:tc>
              </a:tr>
              <a:tr h="360000">
                <a:tc>
                  <a:txBody>
                    <a:bodyPr/>
                    <a:lstStyle/>
                    <a:p>
                      <a:pPr algn="l"/>
                      <a:r>
                        <a:rPr lang="fr-FR" sz="700" dirty="0" smtClean="0">
                          <a:latin typeface="Arial Rounded MT Bold" pitchFamily="34" charset="0"/>
                        </a:rPr>
                        <a:t>Méthodes et techniques</a:t>
                      </a:r>
                      <a:r>
                        <a:rPr lang="fr-FR" sz="700" baseline="0" dirty="0" smtClean="0">
                          <a:latin typeface="Arial Rounded MT Bold" pitchFamily="34" charset="0"/>
                        </a:rPr>
                        <a:t> informatiques</a:t>
                      </a:r>
                      <a:endParaRPr lang="fr-FR" sz="700" dirty="0">
                        <a:latin typeface="Arial Rounded MT Bold" pitchFamily="34" charset="0"/>
                      </a:endParaRPr>
                    </a:p>
                  </a:txBody>
                  <a:tcPr anchor="ctr">
                    <a:solidFill>
                      <a:srgbClr val="A3FFCD"/>
                    </a:solidFill>
                  </a:tcPr>
                </a:tc>
                <a:tc>
                  <a:txBody>
                    <a:bodyPr/>
                    <a:lstStyle/>
                    <a:p>
                      <a:pPr algn="ctr"/>
                      <a:r>
                        <a:rPr lang="fr-FR" sz="700" dirty="0" smtClean="0">
                          <a:latin typeface="Arial Rounded MT Bold" pitchFamily="34" charset="0"/>
                        </a:rPr>
                        <a:t>16</a:t>
                      </a:r>
                      <a:endParaRPr lang="fr-FR" sz="700" dirty="0">
                        <a:latin typeface="Arial Rounded MT Bold" pitchFamily="34" charset="0"/>
                      </a:endParaRPr>
                    </a:p>
                  </a:txBody>
                  <a:tcPr anchor="ctr">
                    <a:solidFill>
                      <a:srgbClr val="A3FFCD"/>
                    </a:solidFill>
                  </a:tcPr>
                </a:tc>
                <a:tc>
                  <a:txBody>
                    <a:bodyPr/>
                    <a:lstStyle/>
                    <a:p>
                      <a:pPr algn="ctr"/>
                      <a:r>
                        <a:rPr lang="fr-FR" sz="700" dirty="0" smtClean="0">
                          <a:latin typeface="Arial Rounded MT Bold" pitchFamily="34" charset="0"/>
                        </a:rPr>
                        <a:t>16</a:t>
                      </a:r>
                      <a:endParaRPr lang="fr-FR" sz="700" dirty="0">
                        <a:latin typeface="Arial Rounded MT Bold" pitchFamily="34" charset="0"/>
                      </a:endParaRPr>
                    </a:p>
                  </a:txBody>
                  <a:tcPr anchor="ctr">
                    <a:solidFill>
                      <a:srgbClr val="A3FFCD"/>
                    </a:solidFill>
                  </a:tcPr>
                </a:tc>
              </a:tr>
              <a:tr h="360000">
                <a:tc>
                  <a:txBody>
                    <a:bodyPr/>
                    <a:lstStyle/>
                    <a:p>
                      <a:pPr algn="l"/>
                      <a:r>
                        <a:rPr lang="fr-FR" sz="700" dirty="0" smtClean="0">
                          <a:latin typeface="Arial Rounded MT Bold" pitchFamily="34" charset="0"/>
                        </a:rPr>
                        <a:t>Projet personnalisé encadré</a:t>
                      </a:r>
                      <a:endParaRPr lang="fr-FR" sz="700" dirty="0">
                        <a:latin typeface="Arial Rounded MT Bold" pitchFamily="34" charset="0"/>
                      </a:endParaRPr>
                    </a:p>
                  </a:txBody>
                  <a:tcPr anchor="ctr">
                    <a:solidFill>
                      <a:srgbClr val="A3FFCD"/>
                    </a:solidFill>
                  </a:tcPr>
                </a:tc>
                <a:tc>
                  <a:txBody>
                    <a:bodyPr/>
                    <a:lstStyle/>
                    <a:p>
                      <a:pPr algn="ctr"/>
                      <a:r>
                        <a:rPr lang="fr-FR" sz="700" dirty="0" smtClean="0">
                          <a:latin typeface="Arial Rounded MT Bold" pitchFamily="34" charset="0"/>
                        </a:rPr>
                        <a:t>4</a:t>
                      </a:r>
                      <a:endParaRPr lang="fr-FR" sz="700" dirty="0">
                        <a:latin typeface="Arial Rounded MT Bold" pitchFamily="34" charset="0"/>
                      </a:endParaRPr>
                    </a:p>
                  </a:txBody>
                  <a:tcPr anchor="ctr">
                    <a:solidFill>
                      <a:srgbClr val="A3FFCD"/>
                    </a:solidFill>
                  </a:tcPr>
                </a:tc>
                <a:tc>
                  <a:txBody>
                    <a:bodyPr/>
                    <a:lstStyle/>
                    <a:p>
                      <a:pPr algn="ctr"/>
                      <a:r>
                        <a:rPr lang="fr-FR" sz="700" dirty="0" smtClean="0">
                          <a:latin typeface="Arial Rounded MT Bold" pitchFamily="34" charset="0"/>
                        </a:rPr>
                        <a:t>4</a:t>
                      </a:r>
                      <a:endParaRPr lang="fr-FR" sz="700" dirty="0">
                        <a:latin typeface="Arial Rounded MT Bold" pitchFamily="34" charset="0"/>
                      </a:endParaRPr>
                    </a:p>
                  </a:txBody>
                  <a:tcPr anchor="ctr">
                    <a:solidFill>
                      <a:srgbClr val="A3FFCD"/>
                    </a:solidFill>
                  </a:tcPr>
                </a:tc>
              </a:tr>
              <a:tr h="360000">
                <a:tc>
                  <a:txBody>
                    <a:bodyPr/>
                    <a:lstStyle/>
                    <a:p>
                      <a:pPr marL="88900" indent="-88900" algn="l">
                        <a:buFont typeface="Arial" pitchFamily="34" charset="0"/>
                        <a:buNone/>
                        <a:tabLst>
                          <a:tab pos="88900" algn="l"/>
                        </a:tabLst>
                      </a:pPr>
                      <a:r>
                        <a:rPr lang="fr-FR" sz="700" dirty="0" smtClean="0">
                          <a:latin typeface="Arial Rounded MT Bold" pitchFamily="34" charset="0"/>
                        </a:rPr>
                        <a:t>Mathématiques</a:t>
                      </a:r>
                      <a:r>
                        <a:rPr lang="fr-FR" sz="700" baseline="0" dirty="0" smtClean="0">
                          <a:latin typeface="Arial Rounded MT Bold" pitchFamily="34" charset="0"/>
                        </a:rPr>
                        <a:t> approfondies</a:t>
                      </a:r>
                      <a:endParaRPr lang="fr-FR" sz="700" dirty="0">
                        <a:latin typeface="Arial Rounded MT Bold" pitchFamily="34" charset="0"/>
                      </a:endParaRPr>
                    </a:p>
                  </a:txBody>
                  <a:tcPr anchor="ctr">
                    <a:solidFill>
                      <a:srgbClr val="A3FFCD"/>
                    </a:solidFill>
                  </a:tcPr>
                </a:tc>
                <a:tc>
                  <a:txBody>
                    <a:bodyPr/>
                    <a:lstStyle/>
                    <a:p>
                      <a:pPr algn="ctr"/>
                      <a:r>
                        <a:rPr lang="fr-FR" sz="700" dirty="0" smtClean="0">
                          <a:latin typeface="Arial Rounded MT Bold" pitchFamily="34" charset="0"/>
                        </a:rPr>
                        <a:t>2</a:t>
                      </a:r>
                    </a:p>
                  </a:txBody>
                  <a:tcPr anchor="ctr">
                    <a:solidFill>
                      <a:srgbClr val="A3FFCD"/>
                    </a:solidFill>
                  </a:tcPr>
                </a:tc>
                <a:tc>
                  <a:txBody>
                    <a:bodyPr/>
                    <a:lstStyle/>
                    <a:p>
                      <a:pPr algn="ctr"/>
                      <a:r>
                        <a:rPr lang="fr-FR" sz="700" dirty="0" smtClean="0">
                          <a:latin typeface="Arial Rounded MT Bold" pitchFamily="34" charset="0"/>
                        </a:rPr>
                        <a:t>2</a:t>
                      </a:r>
                    </a:p>
                  </a:txBody>
                  <a:tcPr anchor="ctr">
                    <a:solidFill>
                      <a:srgbClr val="A3FFCD"/>
                    </a:solidFill>
                  </a:tcPr>
                </a:tc>
              </a:tr>
              <a:tr h="360000">
                <a:tc>
                  <a:txBody>
                    <a:bodyPr/>
                    <a:lstStyle/>
                    <a:p>
                      <a:pPr marL="0" indent="0" algn="l">
                        <a:buFont typeface="Arial" pitchFamily="34" charset="0"/>
                        <a:buNone/>
                        <a:tabLst/>
                      </a:pPr>
                      <a:r>
                        <a:rPr lang="fr-FR" sz="700" dirty="0" smtClean="0">
                          <a:latin typeface="Arial Rounded MT Bold" pitchFamily="34" charset="0"/>
                        </a:rPr>
                        <a:t>Travail</a:t>
                      </a:r>
                      <a:r>
                        <a:rPr lang="fr-FR" sz="700" baseline="0" dirty="0" smtClean="0">
                          <a:latin typeface="Arial Rounded MT Bold" pitchFamily="34" charset="0"/>
                        </a:rPr>
                        <a:t> en autonomie en laboratoire informatique</a:t>
                      </a:r>
                      <a:endParaRPr lang="fr-FR" sz="700" dirty="0">
                        <a:latin typeface="Arial Rounded MT Bold" pitchFamily="34" charset="0"/>
                      </a:endParaRPr>
                    </a:p>
                  </a:txBody>
                  <a:tcPr anchor="ctr">
                    <a:solidFill>
                      <a:srgbClr val="A3FFCD"/>
                    </a:solidFill>
                  </a:tcPr>
                </a:tc>
                <a:tc>
                  <a:txBody>
                    <a:bodyPr/>
                    <a:lstStyle/>
                    <a:p>
                      <a:pPr algn="ctr"/>
                      <a:r>
                        <a:rPr lang="fr-FR" sz="700" dirty="0" smtClean="0">
                          <a:latin typeface="Arial Rounded MT Bold" pitchFamily="34" charset="0"/>
                        </a:rPr>
                        <a:t>4</a:t>
                      </a:r>
                      <a:endParaRPr lang="fr-FR" sz="700" dirty="0">
                        <a:latin typeface="Arial Rounded MT Bold" pitchFamily="34" charset="0"/>
                      </a:endParaRPr>
                    </a:p>
                  </a:txBody>
                  <a:tcPr anchor="ctr">
                    <a:solidFill>
                      <a:srgbClr val="A3FFCD"/>
                    </a:solidFill>
                  </a:tcPr>
                </a:tc>
                <a:tc>
                  <a:txBody>
                    <a:bodyPr/>
                    <a:lstStyle/>
                    <a:p>
                      <a:pPr algn="ctr"/>
                      <a:r>
                        <a:rPr lang="fr-FR" sz="700" dirty="0" smtClean="0">
                          <a:latin typeface="Arial Rounded MT Bold" pitchFamily="34" charset="0"/>
                        </a:rPr>
                        <a:t>4</a:t>
                      </a:r>
                      <a:endParaRPr lang="fr-FR" sz="700" dirty="0">
                        <a:latin typeface="Arial Rounded MT Bold" pitchFamily="34" charset="0"/>
                      </a:endParaRPr>
                    </a:p>
                  </a:txBody>
                  <a:tcPr anchor="ctr">
                    <a:solidFill>
                      <a:srgbClr val="A3FFCD"/>
                    </a:solidFill>
                  </a:tcPr>
                </a:tc>
              </a:tr>
            </a:tbl>
          </a:graphicData>
        </a:graphic>
      </p:graphicFrame>
      <p:sp>
        <p:nvSpPr>
          <p:cNvPr id="17" name="ZoneTexte 16"/>
          <p:cNvSpPr txBox="1"/>
          <p:nvPr/>
        </p:nvSpPr>
        <p:spPr>
          <a:xfrm>
            <a:off x="1424608" y="188640"/>
            <a:ext cx="3240360" cy="338554"/>
          </a:xfrm>
          <a:prstGeom prst="rect">
            <a:avLst/>
          </a:prstGeom>
          <a:noFill/>
        </p:spPr>
        <p:txBody>
          <a:bodyPr wrap="square" rtlCol="0">
            <a:spAutoFit/>
          </a:bodyPr>
          <a:lstStyle/>
          <a:p>
            <a:pPr algn="ctr"/>
            <a:r>
              <a:rPr lang="fr-FR" sz="1600" dirty="0" smtClean="0">
                <a:latin typeface="Arial Rounded MT Bold" pitchFamily="34" charset="0"/>
              </a:rPr>
              <a:t>Les enseignements</a:t>
            </a:r>
          </a:p>
        </p:txBody>
      </p:sp>
      <p:sp>
        <p:nvSpPr>
          <p:cNvPr id="18" name="Rectangle à coins arrondis 17"/>
          <p:cNvSpPr/>
          <p:nvPr/>
        </p:nvSpPr>
        <p:spPr>
          <a:xfrm>
            <a:off x="8697416" y="188640"/>
            <a:ext cx="1080119" cy="6552728"/>
          </a:xfrm>
          <a:prstGeom prst="roundRect">
            <a:avLst>
              <a:gd name="adj" fmla="val 7602"/>
            </a:avLst>
          </a:prstGeom>
          <a:gradFill flip="none" rotWithShape="1">
            <a:gsLst>
              <a:gs pos="0">
                <a:srgbClr val="A3FFCD">
                  <a:shade val="30000"/>
                  <a:satMod val="115000"/>
                </a:srgbClr>
              </a:gs>
              <a:gs pos="50000">
                <a:srgbClr val="A3FFCD">
                  <a:shade val="67500"/>
                  <a:satMod val="115000"/>
                </a:srgbClr>
              </a:gs>
              <a:gs pos="100000">
                <a:srgbClr val="A3FFCD">
                  <a:shade val="100000"/>
                  <a:satMod val="115000"/>
                </a:srgbClr>
              </a:gs>
            </a:gsLst>
            <a:lin ang="10800000" scaled="1"/>
            <a:tileRect/>
          </a:gradFill>
          <a:ln w="38100">
            <a:solidFill>
              <a:srgbClr val="005828"/>
            </a:solidFill>
          </a:ln>
        </p:spPr>
        <p:style>
          <a:lnRef idx="1">
            <a:schemeClr val="accent2"/>
          </a:lnRef>
          <a:fillRef idx="2">
            <a:schemeClr val="accent2"/>
          </a:fillRef>
          <a:effectRef idx="1">
            <a:schemeClr val="accent2"/>
          </a:effectRef>
          <a:fontRef idx="minor">
            <a:schemeClr val="dk1"/>
          </a:fontRef>
        </p:style>
        <p:txBody>
          <a:bodyPr lIns="91428" tIns="45714" rIns="91428" bIns="45714" rtlCol="0" anchor="ctr">
            <a:normAutofit/>
          </a:bodyPr>
          <a:lstStyle/>
          <a:p>
            <a:endParaRPr lang="fr-FR" sz="1200" dirty="0">
              <a:solidFill>
                <a:schemeClr val="bg2">
                  <a:lumMod val="60000"/>
                  <a:lumOff val="40000"/>
                </a:schemeClr>
              </a:solidFill>
              <a:latin typeface="Arial Rounded MT Bold" pitchFamily="34" charset="0"/>
            </a:endParaRPr>
          </a:p>
        </p:txBody>
      </p:sp>
      <p:sp>
        <p:nvSpPr>
          <p:cNvPr id="19" name="ZoneTexte 18"/>
          <p:cNvSpPr txBox="1"/>
          <p:nvPr/>
        </p:nvSpPr>
        <p:spPr>
          <a:xfrm>
            <a:off x="5169024" y="188640"/>
            <a:ext cx="3312368" cy="338554"/>
          </a:xfrm>
          <a:prstGeom prst="rect">
            <a:avLst/>
          </a:prstGeom>
          <a:noFill/>
        </p:spPr>
        <p:txBody>
          <a:bodyPr wrap="square" rtlCol="0">
            <a:spAutoFit/>
          </a:bodyPr>
          <a:lstStyle/>
          <a:p>
            <a:pPr algn="ctr"/>
            <a:r>
              <a:rPr lang="fr-FR" sz="1600" dirty="0" smtClean="0">
                <a:latin typeface="Arial Rounded MT Bold" pitchFamily="34" charset="0"/>
              </a:rPr>
              <a:t>Les épreuves</a:t>
            </a:r>
          </a:p>
        </p:txBody>
      </p:sp>
      <p:graphicFrame>
        <p:nvGraphicFramePr>
          <p:cNvPr id="20" name="Tableau 19"/>
          <p:cNvGraphicFramePr>
            <a:graphicFrameLocks noGrp="1"/>
          </p:cNvGraphicFramePr>
          <p:nvPr/>
        </p:nvGraphicFramePr>
        <p:xfrm>
          <a:off x="5169024" y="620688"/>
          <a:ext cx="3348000" cy="4312920"/>
        </p:xfrm>
        <a:graphic>
          <a:graphicData uri="http://schemas.openxmlformats.org/drawingml/2006/table">
            <a:tbl>
              <a:tblPr firstRow="1" bandRow="1">
                <a:tableStyleId>{284E427A-3D55-4303-BF80-6455036E1DE7}</a:tableStyleId>
              </a:tblPr>
              <a:tblGrid>
                <a:gridCol w="1440000"/>
                <a:gridCol w="648000"/>
                <a:gridCol w="720000"/>
                <a:gridCol w="540000"/>
              </a:tblGrid>
              <a:tr h="370840">
                <a:tc>
                  <a:txBody>
                    <a:bodyPr/>
                    <a:lstStyle/>
                    <a:p>
                      <a:pPr algn="ctr"/>
                      <a:r>
                        <a:rPr lang="fr-FR" sz="700" dirty="0" smtClean="0">
                          <a:latin typeface="Arial Rounded MT Bold" pitchFamily="34" charset="0"/>
                        </a:rPr>
                        <a:t>Matières</a:t>
                      </a:r>
                      <a:endParaRPr lang="fr-FR" sz="700" dirty="0">
                        <a:latin typeface="Arial Rounded MT Bold" pitchFamily="34" charset="0"/>
                      </a:endParaRPr>
                    </a:p>
                  </a:txBody>
                  <a:tcPr anchor="ctr">
                    <a:solidFill>
                      <a:srgbClr val="00B050"/>
                    </a:solidFill>
                  </a:tcPr>
                </a:tc>
                <a:tc>
                  <a:txBody>
                    <a:bodyPr/>
                    <a:lstStyle/>
                    <a:p>
                      <a:pPr algn="ctr"/>
                      <a:r>
                        <a:rPr lang="fr-FR" sz="650" dirty="0" smtClean="0">
                          <a:latin typeface="Arial Rounded MT Bold" pitchFamily="34" charset="0"/>
                        </a:rPr>
                        <a:t>Coefficient</a:t>
                      </a:r>
                      <a:endParaRPr lang="fr-FR" sz="650" dirty="0">
                        <a:latin typeface="Arial Rounded MT Bold" pitchFamily="34" charset="0"/>
                      </a:endParaRPr>
                    </a:p>
                  </a:txBody>
                  <a:tcPr anchor="ctr">
                    <a:solidFill>
                      <a:srgbClr val="00B050"/>
                    </a:solidFill>
                  </a:tcPr>
                </a:tc>
                <a:tc>
                  <a:txBody>
                    <a:bodyPr/>
                    <a:lstStyle/>
                    <a:p>
                      <a:pPr algn="ctr"/>
                      <a:r>
                        <a:rPr lang="fr-FR" sz="700" dirty="0" smtClean="0">
                          <a:latin typeface="Arial Rounded MT Bold" pitchFamily="34" charset="0"/>
                        </a:rPr>
                        <a:t>Forme</a:t>
                      </a:r>
                      <a:endParaRPr lang="fr-FR" sz="700" dirty="0">
                        <a:latin typeface="Arial Rounded MT Bold" pitchFamily="34" charset="0"/>
                      </a:endParaRPr>
                    </a:p>
                  </a:txBody>
                  <a:tcPr anchor="ctr">
                    <a:solidFill>
                      <a:srgbClr val="00B050"/>
                    </a:solidFill>
                  </a:tcPr>
                </a:tc>
                <a:tc>
                  <a:txBody>
                    <a:bodyPr/>
                    <a:lstStyle/>
                    <a:p>
                      <a:pPr algn="ctr"/>
                      <a:r>
                        <a:rPr lang="fr-FR" sz="700" dirty="0" smtClean="0">
                          <a:latin typeface="Arial Rounded MT Bold" pitchFamily="34" charset="0"/>
                        </a:rPr>
                        <a:t>Durée</a:t>
                      </a:r>
                      <a:endParaRPr lang="fr-FR" sz="700" dirty="0">
                        <a:latin typeface="Arial Rounded MT Bold" pitchFamily="34" charset="0"/>
                      </a:endParaRPr>
                    </a:p>
                  </a:txBody>
                  <a:tcPr anchor="ctr">
                    <a:solidFill>
                      <a:srgbClr val="00B050"/>
                    </a:solidFill>
                  </a:tcPr>
                </a:tc>
              </a:tr>
              <a:tr h="370840">
                <a:tc>
                  <a:txBody>
                    <a:bodyPr/>
                    <a:lstStyle/>
                    <a:p>
                      <a:pPr algn="l"/>
                      <a:r>
                        <a:rPr lang="fr-FR" sz="700" dirty="0" smtClean="0">
                          <a:latin typeface="Arial Rounded MT Bold" pitchFamily="34" charset="0"/>
                        </a:rPr>
                        <a:t>Culture et communication :</a:t>
                      </a:r>
                    </a:p>
                    <a:p>
                      <a:pPr algn="l"/>
                      <a:endParaRPr lang="fr-FR" sz="700" dirty="0" smtClean="0">
                        <a:latin typeface="Arial Rounded MT Bold" pitchFamily="34" charset="0"/>
                      </a:endParaRPr>
                    </a:p>
                    <a:p>
                      <a:pPr marL="88900" indent="-88900" algn="l">
                        <a:buFont typeface="Arial" pitchFamily="34" charset="0"/>
                        <a:buChar char="•"/>
                        <a:tabLst>
                          <a:tab pos="88900" algn="l"/>
                        </a:tabLst>
                      </a:pPr>
                      <a:r>
                        <a:rPr lang="fr-FR" sz="700" dirty="0" smtClean="0">
                          <a:latin typeface="Arial Rounded MT Bold" pitchFamily="34" charset="0"/>
                        </a:rPr>
                        <a:t>Culture générale et expression</a:t>
                      </a:r>
                    </a:p>
                    <a:p>
                      <a:pPr marL="88900" indent="-88900" algn="l">
                        <a:spcBef>
                          <a:spcPts val="0"/>
                        </a:spcBef>
                        <a:buFont typeface="Arial" pitchFamily="34" charset="0"/>
                        <a:buChar char="•"/>
                        <a:tabLst>
                          <a:tab pos="88900" algn="l"/>
                        </a:tabLst>
                      </a:pPr>
                      <a:r>
                        <a:rPr lang="fr-FR" sz="700" dirty="0" smtClean="0">
                          <a:latin typeface="Arial Rounded MT Bold" pitchFamily="34" charset="0"/>
                        </a:rPr>
                        <a:t> Expression et communication en langue</a:t>
                      </a:r>
                      <a:r>
                        <a:rPr lang="fr-FR" sz="700" baseline="0" dirty="0" smtClean="0">
                          <a:latin typeface="Arial Rounded MT Bold" pitchFamily="34" charset="0"/>
                        </a:rPr>
                        <a:t> anglaise</a:t>
                      </a:r>
                    </a:p>
                    <a:p>
                      <a:pPr algn="l">
                        <a:buFont typeface="Arial" pitchFamily="34" charset="0"/>
                        <a:buNone/>
                      </a:pPr>
                      <a:endParaRPr lang="fr-FR" sz="700" dirty="0">
                        <a:latin typeface="Arial Rounded MT Bold" pitchFamily="34" charset="0"/>
                      </a:endParaRPr>
                    </a:p>
                  </a:txBody>
                  <a:tcPr anchor="ctr">
                    <a:solidFill>
                      <a:srgbClr val="A3FFCD"/>
                    </a:solidFill>
                  </a:tcPr>
                </a:tc>
                <a:tc>
                  <a:txBody>
                    <a:bodyPr/>
                    <a:lstStyle/>
                    <a:p>
                      <a:pPr algn="ctr"/>
                      <a:endParaRPr lang="fr-FR" sz="700" dirty="0" smtClean="0">
                        <a:latin typeface="Arial Rounded MT Bold" pitchFamily="34" charset="0"/>
                      </a:endParaRPr>
                    </a:p>
                    <a:p>
                      <a:pPr algn="ctr"/>
                      <a:endParaRPr lang="fr-FR" sz="700" dirty="0" smtClean="0">
                        <a:latin typeface="Arial Rounded MT Bold" pitchFamily="34" charset="0"/>
                      </a:endParaRPr>
                    </a:p>
                    <a:p>
                      <a:pPr algn="ctr"/>
                      <a:endParaRPr lang="fr-FR" sz="700" dirty="0" smtClean="0">
                        <a:latin typeface="Arial Rounded MT Bold" pitchFamily="34" charset="0"/>
                      </a:endParaRPr>
                    </a:p>
                    <a:p>
                      <a:pPr algn="ctr"/>
                      <a:r>
                        <a:rPr lang="fr-FR" sz="700" dirty="0" smtClean="0">
                          <a:latin typeface="Arial Rounded MT Bold" pitchFamily="34" charset="0"/>
                        </a:rPr>
                        <a:t>2</a:t>
                      </a:r>
                    </a:p>
                    <a:p>
                      <a:pPr algn="ctr"/>
                      <a:endParaRPr lang="fr-FR" sz="700" dirty="0" smtClean="0">
                        <a:latin typeface="Arial Rounded MT Bold" pitchFamily="34" charset="0"/>
                      </a:endParaRPr>
                    </a:p>
                    <a:p>
                      <a:pPr algn="ctr"/>
                      <a:r>
                        <a:rPr lang="fr-FR" sz="700" dirty="0" smtClean="0">
                          <a:latin typeface="Arial Rounded MT Bold" pitchFamily="34" charset="0"/>
                        </a:rPr>
                        <a:t>2</a:t>
                      </a:r>
                    </a:p>
                    <a:p>
                      <a:pPr algn="ctr"/>
                      <a:endParaRPr lang="fr-FR" sz="700" dirty="0">
                        <a:latin typeface="Arial Rounded MT Bold" pitchFamily="34" charset="0"/>
                      </a:endParaRPr>
                    </a:p>
                  </a:txBody>
                  <a:tcPr>
                    <a:solidFill>
                      <a:srgbClr val="A3FFCD"/>
                    </a:solidFill>
                  </a:tcPr>
                </a:tc>
                <a:tc>
                  <a:txBody>
                    <a:bodyPr/>
                    <a:lstStyle/>
                    <a:p>
                      <a:pPr algn="ctr"/>
                      <a:endParaRPr lang="fr-FR" sz="700" dirty="0" smtClean="0">
                        <a:latin typeface="Arial Rounded MT Bold" pitchFamily="34" charset="0"/>
                      </a:endParaRPr>
                    </a:p>
                    <a:p>
                      <a:pPr algn="ctr"/>
                      <a:endParaRPr lang="fr-FR" sz="700" dirty="0" smtClean="0">
                        <a:latin typeface="Arial Rounded MT Bold" pitchFamily="34" charset="0"/>
                      </a:endParaRPr>
                    </a:p>
                    <a:p>
                      <a:pPr algn="ctr"/>
                      <a:endParaRPr lang="fr-FR" sz="700" dirty="0" smtClean="0">
                        <a:latin typeface="Arial Rounded MT Bold" pitchFamily="34" charset="0"/>
                      </a:endParaRPr>
                    </a:p>
                    <a:p>
                      <a:pPr algn="ctr"/>
                      <a:r>
                        <a:rPr lang="fr-FR" sz="700" dirty="0" smtClean="0">
                          <a:latin typeface="Arial Rounded MT Bold" pitchFamily="34" charset="0"/>
                        </a:rPr>
                        <a:t>Ecrite</a:t>
                      </a:r>
                    </a:p>
                    <a:p>
                      <a:pPr algn="ctr"/>
                      <a:endParaRPr lang="fr-FR" sz="700" dirty="0" smtClean="0">
                        <a:latin typeface="Arial Rounded MT Bold" pitchFamily="34" charset="0"/>
                      </a:endParaRPr>
                    </a:p>
                    <a:p>
                      <a:pPr algn="ctr"/>
                      <a:r>
                        <a:rPr lang="fr-FR" sz="700" dirty="0" smtClean="0">
                          <a:latin typeface="Arial Rounded MT Bold" pitchFamily="34" charset="0"/>
                        </a:rPr>
                        <a:t>Ecrite</a:t>
                      </a:r>
                    </a:p>
                    <a:p>
                      <a:pPr algn="ctr"/>
                      <a:r>
                        <a:rPr lang="fr-FR" sz="700" dirty="0" smtClean="0">
                          <a:latin typeface="Arial Rounded MT Bold" pitchFamily="34" charset="0"/>
                        </a:rPr>
                        <a:t>Orale</a:t>
                      </a:r>
                      <a:endParaRPr lang="fr-FR" sz="700" dirty="0">
                        <a:latin typeface="Arial Rounded MT Bold" pitchFamily="34" charset="0"/>
                      </a:endParaRPr>
                    </a:p>
                  </a:txBody>
                  <a:tcPr>
                    <a:solidFill>
                      <a:srgbClr val="A3FFCD"/>
                    </a:solidFill>
                  </a:tcPr>
                </a:tc>
                <a:tc>
                  <a:txBody>
                    <a:bodyPr/>
                    <a:lstStyle/>
                    <a:p>
                      <a:pPr algn="ctr"/>
                      <a:endParaRPr lang="fr-FR" sz="700" dirty="0" smtClean="0">
                        <a:latin typeface="Arial Rounded MT Bold" pitchFamily="34" charset="0"/>
                      </a:endParaRPr>
                    </a:p>
                    <a:p>
                      <a:pPr algn="ctr"/>
                      <a:endParaRPr lang="fr-FR" sz="700" dirty="0" smtClean="0">
                        <a:latin typeface="Arial Rounded MT Bold" pitchFamily="34" charset="0"/>
                      </a:endParaRPr>
                    </a:p>
                    <a:p>
                      <a:pPr algn="ctr"/>
                      <a:endParaRPr lang="fr-FR" sz="700" dirty="0" smtClean="0">
                        <a:latin typeface="Arial Rounded MT Bold" pitchFamily="34" charset="0"/>
                      </a:endParaRPr>
                    </a:p>
                    <a:p>
                      <a:pPr algn="ctr"/>
                      <a:r>
                        <a:rPr lang="fr-FR" sz="700" dirty="0" smtClean="0">
                          <a:latin typeface="Arial Rounded MT Bold" pitchFamily="34" charset="0"/>
                        </a:rPr>
                        <a:t>4h</a:t>
                      </a:r>
                    </a:p>
                    <a:p>
                      <a:pPr algn="ctr"/>
                      <a:endParaRPr lang="fr-FR" sz="700" dirty="0" smtClean="0">
                        <a:latin typeface="Arial Rounded MT Bold" pitchFamily="34" charset="0"/>
                      </a:endParaRPr>
                    </a:p>
                    <a:p>
                      <a:pPr algn="ctr"/>
                      <a:r>
                        <a:rPr lang="fr-FR" sz="700" dirty="0" smtClean="0">
                          <a:latin typeface="Arial Rounded MT Bold" pitchFamily="34" charset="0"/>
                        </a:rPr>
                        <a:t>2h</a:t>
                      </a:r>
                    </a:p>
                    <a:p>
                      <a:pPr algn="ctr"/>
                      <a:r>
                        <a:rPr lang="fr-FR" sz="700" dirty="0" smtClean="0">
                          <a:latin typeface="Arial Rounded MT Bold" pitchFamily="34" charset="0"/>
                        </a:rPr>
                        <a:t>0h20</a:t>
                      </a:r>
                    </a:p>
                  </a:txBody>
                  <a:tcPr>
                    <a:solidFill>
                      <a:srgbClr val="A3FFCD"/>
                    </a:solidFill>
                  </a:tcPr>
                </a:tc>
              </a:tr>
              <a:tr h="370840">
                <a:tc>
                  <a:txBody>
                    <a:bodyPr/>
                    <a:lstStyle/>
                    <a:p>
                      <a:pPr algn="l"/>
                      <a:r>
                        <a:rPr lang="fr-FR" sz="700" dirty="0" smtClean="0">
                          <a:latin typeface="Arial Rounded MT Bold" pitchFamily="34" charset="0"/>
                        </a:rPr>
                        <a:t>Mathématiques pour l’informatique :</a:t>
                      </a:r>
                    </a:p>
                    <a:p>
                      <a:pPr algn="l"/>
                      <a:endParaRPr lang="fr-FR" sz="700" dirty="0" smtClean="0">
                        <a:latin typeface="Arial Rounded MT Bold" pitchFamily="34" charset="0"/>
                      </a:endParaRPr>
                    </a:p>
                    <a:p>
                      <a:pPr algn="l">
                        <a:buFont typeface="Arial" pitchFamily="34" charset="0"/>
                        <a:buChar char="•"/>
                      </a:pPr>
                      <a:r>
                        <a:rPr lang="fr-FR" sz="700" dirty="0" smtClean="0">
                          <a:latin typeface="Arial Rounded MT Bold" pitchFamily="34" charset="0"/>
                        </a:rPr>
                        <a:t> Mathématiques</a:t>
                      </a:r>
                    </a:p>
                    <a:p>
                      <a:pPr algn="l">
                        <a:buFont typeface="Arial" pitchFamily="34" charset="0"/>
                        <a:buChar char="•"/>
                      </a:pPr>
                      <a:r>
                        <a:rPr lang="fr-FR" sz="700" dirty="0" smtClean="0">
                          <a:latin typeface="Arial Rounded MT Bold" pitchFamily="34" charset="0"/>
                        </a:rPr>
                        <a:t> Algorithmique</a:t>
                      </a:r>
                      <a:r>
                        <a:rPr lang="fr-FR" sz="700" baseline="0" dirty="0" smtClean="0">
                          <a:latin typeface="Arial Rounded MT Bold" pitchFamily="34" charset="0"/>
                        </a:rPr>
                        <a:t> appliquée</a:t>
                      </a:r>
                    </a:p>
                    <a:p>
                      <a:pPr algn="l">
                        <a:buFont typeface="Arial" pitchFamily="34" charset="0"/>
                        <a:buNone/>
                      </a:pPr>
                      <a:endParaRPr lang="fr-FR" sz="700" dirty="0" smtClean="0">
                        <a:latin typeface="Arial Rounded MT Bold" pitchFamily="34" charset="0"/>
                      </a:endParaRPr>
                    </a:p>
                  </a:txBody>
                  <a:tcPr anchor="ctr">
                    <a:solidFill>
                      <a:srgbClr val="A3FFCD"/>
                    </a:solidFill>
                  </a:tcPr>
                </a:tc>
                <a:tc>
                  <a:txBody>
                    <a:bodyPr/>
                    <a:lstStyle/>
                    <a:p>
                      <a:pPr algn="ctr"/>
                      <a:endParaRPr lang="fr-FR" sz="700" dirty="0" smtClean="0">
                        <a:latin typeface="Arial Rounded MT Bold" pitchFamily="34" charset="0"/>
                      </a:endParaRPr>
                    </a:p>
                    <a:p>
                      <a:pPr algn="ctr"/>
                      <a:endParaRPr lang="fr-FR" sz="700" dirty="0" smtClean="0">
                        <a:latin typeface="Arial Rounded MT Bold" pitchFamily="34" charset="0"/>
                      </a:endParaRPr>
                    </a:p>
                    <a:p>
                      <a:pPr algn="ctr"/>
                      <a:endParaRPr lang="fr-FR" sz="700" dirty="0" smtClean="0">
                        <a:latin typeface="Arial Rounded MT Bold" pitchFamily="34" charset="0"/>
                      </a:endParaRPr>
                    </a:p>
                    <a:p>
                      <a:pPr algn="ctr"/>
                      <a:r>
                        <a:rPr lang="fr-FR" sz="700" dirty="0" smtClean="0">
                          <a:latin typeface="Arial Rounded MT Bold" pitchFamily="34" charset="0"/>
                        </a:rPr>
                        <a:t>2</a:t>
                      </a:r>
                    </a:p>
                    <a:p>
                      <a:pPr algn="ctr"/>
                      <a:r>
                        <a:rPr lang="fr-FR" sz="700" dirty="0" smtClean="0">
                          <a:latin typeface="Arial Rounded MT Bold" pitchFamily="34" charset="0"/>
                        </a:rPr>
                        <a:t>1</a:t>
                      </a:r>
                      <a:endParaRPr lang="fr-FR" sz="700" dirty="0">
                        <a:latin typeface="Arial Rounded MT Bold" pitchFamily="34" charset="0"/>
                      </a:endParaRPr>
                    </a:p>
                  </a:txBody>
                  <a:tcPr>
                    <a:solidFill>
                      <a:srgbClr val="A3FFCD"/>
                    </a:solidFill>
                  </a:tcPr>
                </a:tc>
                <a:tc>
                  <a:txBody>
                    <a:bodyPr/>
                    <a:lstStyle/>
                    <a:p>
                      <a:pPr algn="ctr"/>
                      <a:endParaRPr lang="fr-FR" sz="700" dirty="0" smtClean="0">
                        <a:latin typeface="Arial Rounded MT Bold" pitchFamily="34" charset="0"/>
                      </a:endParaRPr>
                    </a:p>
                    <a:p>
                      <a:pPr algn="ctr"/>
                      <a:endParaRPr lang="fr-FR" sz="700" dirty="0" smtClean="0">
                        <a:latin typeface="Arial Rounded MT Bold" pitchFamily="34" charset="0"/>
                      </a:endParaRPr>
                    </a:p>
                    <a:p>
                      <a:pPr algn="ctr"/>
                      <a:endParaRPr lang="fr-FR" sz="700" dirty="0" smtClean="0">
                        <a:latin typeface="Arial Rounded MT Bold" pitchFamily="34" charset="0"/>
                      </a:endParaRPr>
                    </a:p>
                    <a:p>
                      <a:pPr algn="ctr"/>
                      <a:r>
                        <a:rPr lang="fr-FR" sz="700" dirty="0" smtClean="0">
                          <a:latin typeface="Arial Rounded MT Bold" pitchFamily="34" charset="0"/>
                        </a:rPr>
                        <a:t>Ecrite</a:t>
                      </a:r>
                    </a:p>
                    <a:p>
                      <a:pPr algn="ctr"/>
                      <a:r>
                        <a:rPr lang="fr-FR" sz="700" dirty="0" smtClean="0">
                          <a:latin typeface="Arial Rounded MT Bold" pitchFamily="34" charset="0"/>
                        </a:rPr>
                        <a:t>Orale (CCF)</a:t>
                      </a:r>
                      <a:endParaRPr lang="fr-FR" sz="700" dirty="0">
                        <a:latin typeface="Arial Rounded MT Bold" pitchFamily="34" charset="0"/>
                      </a:endParaRPr>
                    </a:p>
                  </a:txBody>
                  <a:tcPr>
                    <a:solidFill>
                      <a:srgbClr val="A3FFCD"/>
                    </a:solidFill>
                  </a:tcPr>
                </a:tc>
                <a:tc>
                  <a:txBody>
                    <a:bodyPr/>
                    <a:lstStyle/>
                    <a:p>
                      <a:pPr algn="ctr"/>
                      <a:endParaRPr lang="fr-FR" sz="700" dirty="0" smtClean="0">
                        <a:latin typeface="Arial Rounded MT Bold" pitchFamily="34" charset="0"/>
                      </a:endParaRPr>
                    </a:p>
                    <a:p>
                      <a:pPr algn="ctr"/>
                      <a:endParaRPr lang="fr-FR" sz="700" dirty="0" smtClean="0">
                        <a:latin typeface="Arial Rounded MT Bold" pitchFamily="34" charset="0"/>
                      </a:endParaRPr>
                    </a:p>
                    <a:p>
                      <a:pPr algn="ctr"/>
                      <a:endParaRPr lang="fr-FR" sz="700" dirty="0" smtClean="0">
                        <a:latin typeface="Arial Rounded MT Bold" pitchFamily="34" charset="0"/>
                      </a:endParaRPr>
                    </a:p>
                    <a:p>
                      <a:pPr algn="ctr"/>
                      <a:r>
                        <a:rPr lang="fr-FR" sz="700" dirty="0" smtClean="0">
                          <a:latin typeface="Arial Rounded MT Bold" pitchFamily="34" charset="0"/>
                        </a:rPr>
                        <a:t>2h</a:t>
                      </a:r>
                    </a:p>
                    <a:p>
                      <a:pPr algn="ctr"/>
                      <a:r>
                        <a:rPr lang="fr-FR" sz="700" dirty="0" smtClean="0">
                          <a:latin typeface="Arial Rounded MT Bold" pitchFamily="34" charset="0"/>
                        </a:rPr>
                        <a:t>0h20</a:t>
                      </a:r>
                    </a:p>
                  </a:txBody>
                  <a:tcPr>
                    <a:solidFill>
                      <a:srgbClr val="A3FFCD"/>
                    </a:solidFill>
                  </a:tcPr>
                </a:tc>
              </a:tr>
              <a:tr h="370840">
                <a:tc>
                  <a:txBody>
                    <a:bodyPr/>
                    <a:lstStyle/>
                    <a:p>
                      <a:pPr algn="l"/>
                      <a:r>
                        <a:rPr lang="fr-FR" sz="700" dirty="0" smtClean="0">
                          <a:latin typeface="Arial Rounded MT Bold" pitchFamily="34" charset="0"/>
                        </a:rPr>
                        <a:t>Analyse économique, managériale et juridique des services informatiques</a:t>
                      </a:r>
                      <a:endParaRPr lang="fr-FR" sz="700" dirty="0">
                        <a:latin typeface="Arial Rounded MT Bold" pitchFamily="34" charset="0"/>
                      </a:endParaRPr>
                    </a:p>
                  </a:txBody>
                  <a:tcPr anchor="ctr">
                    <a:solidFill>
                      <a:srgbClr val="A3FFCD"/>
                    </a:solidFill>
                  </a:tcPr>
                </a:tc>
                <a:tc>
                  <a:txBody>
                    <a:bodyPr/>
                    <a:lstStyle/>
                    <a:p>
                      <a:pPr algn="ctr"/>
                      <a:r>
                        <a:rPr lang="fr-FR" sz="700" dirty="0" smtClean="0">
                          <a:latin typeface="Arial Rounded MT Bold" pitchFamily="34" charset="0"/>
                        </a:rPr>
                        <a:t>3</a:t>
                      </a:r>
                      <a:endParaRPr lang="fr-FR" sz="700" dirty="0">
                        <a:latin typeface="Arial Rounded MT Bold" pitchFamily="34" charset="0"/>
                      </a:endParaRPr>
                    </a:p>
                  </a:txBody>
                  <a:tcPr anchor="ctr">
                    <a:solidFill>
                      <a:srgbClr val="A3FFCD"/>
                    </a:solidFill>
                  </a:tcPr>
                </a:tc>
                <a:tc>
                  <a:txBody>
                    <a:bodyPr/>
                    <a:lstStyle/>
                    <a:p>
                      <a:pPr algn="ctr"/>
                      <a:r>
                        <a:rPr lang="fr-FR" sz="700" dirty="0" smtClean="0">
                          <a:latin typeface="Arial Rounded MT Bold" pitchFamily="34" charset="0"/>
                        </a:rPr>
                        <a:t>Ecrite</a:t>
                      </a:r>
                      <a:endParaRPr lang="fr-FR" sz="700" dirty="0">
                        <a:latin typeface="Arial Rounded MT Bold" pitchFamily="34" charset="0"/>
                      </a:endParaRPr>
                    </a:p>
                  </a:txBody>
                  <a:tcPr anchor="ctr">
                    <a:solidFill>
                      <a:srgbClr val="A3FFCD"/>
                    </a:solidFill>
                  </a:tcPr>
                </a:tc>
                <a:tc>
                  <a:txBody>
                    <a:bodyPr/>
                    <a:lstStyle/>
                    <a:p>
                      <a:pPr algn="ctr"/>
                      <a:r>
                        <a:rPr lang="fr-FR" sz="700" dirty="0" smtClean="0">
                          <a:latin typeface="Arial Rounded MT Bold" pitchFamily="34" charset="0"/>
                        </a:rPr>
                        <a:t>4h</a:t>
                      </a:r>
                    </a:p>
                  </a:txBody>
                  <a:tcPr anchor="ctr">
                    <a:solidFill>
                      <a:srgbClr val="A3FFCD"/>
                    </a:solidFill>
                  </a:tcPr>
                </a:tc>
              </a:tr>
              <a:tr h="370840">
                <a:tc>
                  <a:txBody>
                    <a:bodyPr/>
                    <a:lstStyle/>
                    <a:p>
                      <a:pPr algn="l"/>
                      <a:r>
                        <a:rPr lang="fr-FR" sz="700" dirty="0" smtClean="0">
                          <a:latin typeface="Arial Rounded MT Bold" pitchFamily="34" charset="0"/>
                        </a:rPr>
                        <a:t>Conception</a:t>
                      </a:r>
                      <a:r>
                        <a:rPr lang="fr-FR" sz="700" baseline="0" dirty="0" smtClean="0">
                          <a:latin typeface="Arial Rounded MT Bold" pitchFamily="34" charset="0"/>
                        </a:rPr>
                        <a:t> et maintenance de solutions informatiques</a:t>
                      </a:r>
                      <a:endParaRPr lang="fr-FR" sz="700" dirty="0">
                        <a:latin typeface="Arial Rounded MT Bold" pitchFamily="34" charset="0"/>
                      </a:endParaRPr>
                    </a:p>
                  </a:txBody>
                  <a:tcPr anchor="ctr">
                    <a:solidFill>
                      <a:srgbClr val="A3FFCD"/>
                    </a:solidFill>
                  </a:tcPr>
                </a:tc>
                <a:tc>
                  <a:txBody>
                    <a:bodyPr/>
                    <a:lstStyle/>
                    <a:p>
                      <a:pPr algn="ctr"/>
                      <a:r>
                        <a:rPr lang="fr-FR" sz="700" dirty="0" smtClean="0">
                          <a:latin typeface="Arial Rounded MT Bold" pitchFamily="34" charset="0"/>
                        </a:rPr>
                        <a:t>4</a:t>
                      </a:r>
                      <a:endParaRPr lang="fr-FR" sz="700" i="0" dirty="0" smtClean="0">
                        <a:latin typeface="Arial Rounded MT Bold" pitchFamily="34" charset="0"/>
                      </a:endParaRPr>
                    </a:p>
                  </a:txBody>
                  <a:tcPr anchor="ctr">
                    <a:solidFill>
                      <a:srgbClr val="A3FFCD"/>
                    </a:solidFill>
                  </a:tcPr>
                </a:tc>
                <a:tc>
                  <a:txBody>
                    <a:bodyPr/>
                    <a:lstStyle/>
                    <a:p>
                      <a:pPr algn="ctr"/>
                      <a:r>
                        <a:rPr lang="fr-FR" sz="700" dirty="0" smtClean="0">
                          <a:latin typeface="Arial Rounded MT Bold" pitchFamily="34" charset="0"/>
                        </a:rPr>
                        <a:t>Pratique et Orale (CCF)</a:t>
                      </a:r>
                      <a:endParaRPr lang="fr-FR" sz="700" dirty="0">
                        <a:latin typeface="Arial Rounded MT Bold" pitchFamily="34" charset="0"/>
                      </a:endParaRPr>
                    </a:p>
                  </a:txBody>
                  <a:tcPr anchor="ctr">
                    <a:solidFill>
                      <a:srgbClr val="A3FFCD"/>
                    </a:solidFill>
                  </a:tcPr>
                </a:tc>
                <a:tc>
                  <a:txBody>
                    <a:bodyPr/>
                    <a:lstStyle/>
                    <a:p>
                      <a:pPr algn="ctr"/>
                      <a:r>
                        <a:rPr lang="fr-FR" sz="700" dirty="0" smtClean="0">
                          <a:latin typeface="Arial Rounded MT Bold" pitchFamily="34" charset="0"/>
                        </a:rPr>
                        <a:t>0h40</a:t>
                      </a:r>
                    </a:p>
                  </a:txBody>
                  <a:tcPr anchor="ctr">
                    <a:solidFill>
                      <a:srgbClr val="A3FFCD"/>
                    </a:solidFill>
                  </a:tcPr>
                </a:tc>
              </a:tr>
              <a:tr h="370840">
                <a:tc>
                  <a:txBody>
                    <a:bodyPr/>
                    <a:lstStyle/>
                    <a:p>
                      <a:pPr algn="l"/>
                      <a:r>
                        <a:rPr lang="fr-FR" sz="700" dirty="0" smtClean="0">
                          <a:latin typeface="Arial Rounded MT Bold" pitchFamily="34" charset="0"/>
                        </a:rPr>
                        <a:t>Production et fourniture de services informatiques</a:t>
                      </a:r>
                      <a:endParaRPr lang="fr-FR" sz="700" dirty="0">
                        <a:latin typeface="Arial Rounded MT Bold" pitchFamily="34" charset="0"/>
                      </a:endParaRPr>
                    </a:p>
                  </a:txBody>
                  <a:tcPr anchor="ctr">
                    <a:solidFill>
                      <a:srgbClr val="A3FFCD"/>
                    </a:solidFill>
                  </a:tcPr>
                </a:tc>
                <a:tc>
                  <a:txBody>
                    <a:bodyPr/>
                    <a:lstStyle/>
                    <a:p>
                      <a:pPr algn="ctr"/>
                      <a:r>
                        <a:rPr lang="fr-FR" sz="700" dirty="0" smtClean="0">
                          <a:latin typeface="Arial Rounded MT Bold" pitchFamily="34" charset="0"/>
                        </a:rPr>
                        <a:t>5</a:t>
                      </a:r>
                      <a:endParaRPr lang="fr-FR" sz="700" i="0" dirty="0" smtClean="0">
                        <a:latin typeface="Arial Rounded MT Bold" pitchFamily="34" charset="0"/>
                      </a:endParaRPr>
                    </a:p>
                  </a:txBody>
                  <a:tcPr anchor="ctr">
                    <a:solidFill>
                      <a:srgbClr val="A3FFCD"/>
                    </a:solidFill>
                  </a:tcPr>
                </a:tc>
                <a:tc>
                  <a:txBody>
                    <a:bodyPr/>
                    <a:lstStyle/>
                    <a:p>
                      <a:pPr algn="ctr"/>
                      <a:r>
                        <a:rPr lang="fr-FR" sz="700" dirty="0" smtClean="0">
                          <a:latin typeface="Arial Rounded MT Bold" pitchFamily="34" charset="0"/>
                        </a:rPr>
                        <a:t>Ecrite</a:t>
                      </a:r>
                    </a:p>
                  </a:txBody>
                  <a:tcPr anchor="ctr">
                    <a:solidFill>
                      <a:srgbClr val="A3FFCD"/>
                    </a:solidFill>
                  </a:tcPr>
                </a:tc>
                <a:tc>
                  <a:txBody>
                    <a:bodyPr/>
                    <a:lstStyle/>
                    <a:p>
                      <a:pPr algn="ctr"/>
                      <a:r>
                        <a:rPr lang="fr-FR" sz="600" dirty="0" smtClean="0">
                          <a:latin typeface="Arial Rounded MT Bold" pitchFamily="34" charset="0"/>
                        </a:rPr>
                        <a:t>4h</a:t>
                      </a:r>
                    </a:p>
                  </a:txBody>
                  <a:tcPr anchor="ctr">
                    <a:solidFill>
                      <a:srgbClr val="A3FFCD"/>
                    </a:solidFill>
                  </a:tcPr>
                </a:tc>
              </a:tr>
              <a:tr h="370840">
                <a:tc>
                  <a:txBody>
                    <a:bodyPr/>
                    <a:lstStyle/>
                    <a:p>
                      <a:pPr algn="l"/>
                      <a:r>
                        <a:rPr lang="fr-FR" sz="700" dirty="0" smtClean="0">
                          <a:latin typeface="Arial Rounded MT Bold" pitchFamily="34" charset="0"/>
                        </a:rPr>
                        <a:t>Parcours de professionnalisation</a:t>
                      </a:r>
                      <a:endParaRPr lang="fr-FR" sz="700" dirty="0">
                        <a:latin typeface="Arial Rounded MT Bold" pitchFamily="34" charset="0"/>
                      </a:endParaRPr>
                    </a:p>
                  </a:txBody>
                  <a:tcPr anchor="ctr">
                    <a:solidFill>
                      <a:srgbClr val="A3FFCD"/>
                    </a:solidFill>
                  </a:tcPr>
                </a:tc>
                <a:tc>
                  <a:txBody>
                    <a:bodyPr/>
                    <a:lstStyle/>
                    <a:p>
                      <a:pPr algn="ctr"/>
                      <a:r>
                        <a:rPr lang="fr-FR" sz="700" dirty="0" smtClean="0">
                          <a:latin typeface="Arial Rounded MT Bold" pitchFamily="34" charset="0"/>
                        </a:rPr>
                        <a:t>3</a:t>
                      </a:r>
                      <a:endParaRPr lang="fr-FR" sz="700" dirty="0">
                        <a:latin typeface="Arial Rounded MT Bold" pitchFamily="34" charset="0"/>
                      </a:endParaRPr>
                    </a:p>
                  </a:txBody>
                  <a:tcPr anchor="ctr">
                    <a:solidFill>
                      <a:srgbClr val="A3FFCD"/>
                    </a:solidFill>
                  </a:tcPr>
                </a:tc>
                <a:tc>
                  <a:txBody>
                    <a:bodyPr/>
                    <a:lstStyle/>
                    <a:p>
                      <a:pPr algn="ctr"/>
                      <a:r>
                        <a:rPr lang="fr-FR" sz="700" dirty="0" smtClean="0">
                          <a:latin typeface="Arial Rounded MT Bold" pitchFamily="34" charset="0"/>
                        </a:rPr>
                        <a:t>Orale </a:t>
                      </a:r>
                      <a:r>
                        <a:rPr lang="fr-FR" sz="700" smtClean="0">
                          <a:latin typeface="Arial Rounded MT Bold" pitchFamily="34" charset="0"/>
                        </a:rPr>
                        <a:t>(CCF)</a:t>
                      </a:r>
                      <a:endParaRPr lang="fr-FR" sz="700" dirty="0">
                        <a:latin typeface="Arial Rounded MT Bold" pitchFamily="34" charset="0"/>
                      </a:endParaRPr>
                    </a:p>
                  </a:txBody>
                  <a:tcPr anchor="ctr">
                    <a:solidFill>
                      <a:srgbClr val="A3FFCD"/>
                    </a:solidFill>
                  </a:tcPr>
                </a:tc>
                <a:tc>
                  <a:txBody>
                    <a:bodyPr/>
                    <a:lstStyle/>
                    <a:p>
                      <a:pPr algn="ctr"/>
                      <a:r>
                        <a:rPr lang="fr-FR" sz="600" dirty="0" smtClean="0">
                          <a:latin typeface="Arial Rounded MT Bold" pitchFamily="34" charset="0"/>
                        </a:rPr>
                        <a:t>0h40</a:t>
                      </a:r>
                    </a:p>
                  </a:txBody>
                  <a:tcPr anchor="ctr">
                    <a:solidFill>
                      <a:srgbClr val="A3FFCD"/>
                    </a:solidFill>
                  </a:tcPr>
                </a:tc>
              </a:tr>
              <a:tr h="370840">
                <a:tc>
                  <a:txBody>
                    <a:bodyPr/>
                    <a:lstStyle/>
                    <a:p>
                      <a:pPr algn="l"/>
                      <a:r>
                        <a:rPr lang="fr-FR" sz="700" dirty="0" smtClean="0">
                          <a:latin typeface="Arial Rounded MT Bold" pitchFamily="34" charset="0"/>
                        </a:rPr>
                        <a:t>Langue</a:t>
                      </a:r>
                      <a:r>
                        <a:rPr lang="fr-FR" sz="700" baseline="0" dirty="0" smtClean="0">
                          <a:latin typeface="Arial Rounded MT Bold" pitchFamily="34" charset="0"/>
                        </a:rPr>
                        <a:t> vivante 2 </a:t>
                      </a:r>
                    </a:p>
                    <a:p>
                      <a:pPr algn="l"/>
                      <a:r>
                        <a:rPr lang="fr-FR" sz="700" baseline="0" dirty="0" smtClean="0">
                          <a:latin typeface="Arial Rounded MT Bold" pitchFamily="34" charset="0"/>
                        </a:rPr>
                        <a:t>(épreuve facultative)</a:t>
                      </a:r>
                      <a:endParaRPr lang="fr-FR" sz="700" i="1" dirty="0">
                        <a:latin typeface="Arial Rounded MT Bold" pitchFamily="34" charset="0"/>
                      </a:endParaRPr>
                    </a:p>
                  </a:txBody>
                  <a:tcPr anchor="ctr">
                    <a:solidFill>
                      <a:srgbClr val="A3FFCD"/>
                    </a:solidFill>
                  </a:tcPr>
                </a:tc>
                <a:tc>
                  <a:txBody>
                    <a:bodyPr/>
                    <a:lstStyle/>
                    <a:p>
                      <a:pPr algn="ctr"/>
                      <a:endParaRPr lang="fr-FR" sz="700" dirty="0">
                        <a:latin typeface="Arial Rounded MT Bold" pitchFamily="34" charset="0"/>
                      </a:endParaRPr>
                    </a:p>
                  </a:txBody>
                  <a:tcPr anchor="ctr">
                    <a:solidFill>
                      <a:srgbClr val="A3FFCD"/>
                    </a:solidFill>
                  </a:tcPr>
                </a:tc>
                <a:tc>
                  <a:txBody>
                    <a:bodyPr/>
                    <a:lstStyle/>
                    <a:p>
                      <a:pPr algn="ctr"/>
                      <a:r>
                        <a:rPr lang="fr-FR" sz="700" dirty="0" smtClean="0">
                          <a:latin typeface="Arial Rounded MT Bold" pitchFamily="34" charset="0"/>
                        </a:rPr>
                        <a:t>Orale</a:t>
                      </a:r>
                      <a:endParaRPr lang="fr-FR" sz="700" dirty="0">
                        <a:latin typeface="Arial Rounded MT Bold" pitchFamily="34" charset="0"/>
                      </a:endParaRPr>
                    </a:p>
                  </a:txBody>
                  <a:tcPr anchor="ctr">
                    <a:solidFill>
                      <a:srgbClr val="A3FFCD"/>
                    </a:solidFill>
                  </a:tcPr>
                </a:tc>
                <a:tc>
                  <a:txBody>
                    <a:bodyPr/>
                    <a:lstStyle/>
                    <a:p>
                      <a:pPr algn="ctr"/>
                      <a:r>
                        <a:rPr lang="fr-FR" sz="700" dirty="0" smtClean="0">
                          <a:latin typeface="Arial Rounded MT Bold" pitchFamily="34" charset="0"/>
                        </a:rPr>
                        <a:t>0h20</a:t>
                      </a:r>
                      <a:endParaRPr lang="fr-FR" sz="700" dirty="0">
                        <a:latin typeface="Arial Rounded MT Bold" pitchFamily="34" charset="0"/>
                      </a:endParaRPr>
                    </a:p>
                  </a:txBody>
                  <a:tcPr anchor="ctr">
                    <a:solidFill>
                      <a:srgbClr val="A3FFCD"/>
                    </a:solidFill>
                  </a:tcPr>
                </a:tc>
              </a:tr>
              <a:tr h="370840">
                <a:tc>
                  <a:txBody>
                    <a:bodyPr/>
                    <a:lstStyle/>
                    <a:p>
                      <a:pPr algn="l"/>
                      <a:r>
                        <a:rPr lang="fr-FR" sz="700" dirty="0" smtClean="0">
                          <a:latin typeface="Arial Rounded MT Bold" pitchFamily="34" charset="0"/>
                        </a:rPr>
                        <a:t>Mathématiques approfondies</a:t>
                      </a:r>
                      <a:endParaRPr lang="fr-FR" sz="700" i="0" dirty="0">
                        <a:latin typeface="Arial Rounded MT Bold" pitchFamily="34" charset="0"/>
                      </a:endParaRPr>
                    </a:p>
                  </a:txBody>
                  <a:tcPr anchor="ctr">
                    <a:solidFill>
                      <a:srgbClr val="A3FFCD"/>
                    </a:solidFill>
                  </a:tcPr>
                </a:tc>
                <a:tc>
                  <a:txBody>
                    <a:bodyPr/>
                    <a:lstStyle/>
                    <a:p>
                      <a:pPr algn="ctr"/>
                      <a:endParaRPr lang="fr-FR" sz="700" dirty="0">
                        <a:latin typeface="Arial Rounded MT Bold" pitchFamily="34" charset="0"/>
                      </a:endParaRPr>
                    </a:p>
                  </a:txBody>
                  <a:tcPr anchor="ctr">
                    <a:solidFill>
                      <a:srgbClr val="A3FFCD"/>
                    </a:solidFill>
                  </a:tcPr>
                </a:tc>
                <a:tc>
                  <a:txBody>
                    <a:bodyPr/>
                    <a:lstStyle/>
                    <a:p>
                      <a:pPr algn="ctr"/>
                      <a:r>
                        <a:rPr lang="fr-FR" sz="700" dirty="0" smtClean="0">
                          <a:latin typeface="Arial Rounded MT Bold" pitchFamily="34" charset="0"/>
                        </a:rPr>
                        <a:t>Ecrite</a:t>
                      </a:r>
                      <a:endParaRPr lang="fr-FR" sz="700" dirty="0">
                        <a:latin typeface="Arial Rounded MT Bold" pitchFamily="34" charset="0"/>
                      </a:endParaRPr>
                    </a:p>
                  </a:txBody>
                  <a:tcPr anchor="ctr">
                    <a:solidFill>
                      <a:srgbClr val="A3FFCD"/>
                    </a:solidFill>
                  </a:tcPr>
                </a:tc>
                <a:tc>
                  <a:txBody>
                    <a:bodyPr/>
                    <a:lstStyle/>
                    <a:p>
                      <a:pPr algn="ctr"/>
                      <a:r>
                        <a:rPr lang="fr-FR" sz="700" dirty="0" smtClean="0">
                          <a:latin typeface="Arial Rounded MT Bold" pitchFamily="34" charset="0"/>
                        </a:rPr>
                        <a:t>2h</a:t>
                      </a:r>
                      <a:endParaRPr lang="fr-FR" sz="700" dirty="0">
                        <a:latin typeface="Arial Rounded MT Bold" pitchFamily="34" charset="0"/>
                      </a:endParaRPr>
                    </a:p>
                  </a:txBody>
                  <a:tcPr anchor="ctr">
                    <a:solidFill>
                      <a:srgbClr val="A3FFCD"/>
                    </a:solidFill>
                  </a:tcPr>
                </a:tc>
              </a:tr>
            </a:tbl>
          </a:graphicData>
        </a:graphic>
      </p:graphicFrame>
      <p:sp>
        <p:nvSpPr>
          <p:cNvPr id="9" name="Rectangle à coins arrondis 8"/>
          <p:cNvSpPr/>
          <p:nvPr/>
        </p:nvSpPr>
        <p:spPr>
          <a:xfrm>
            <a:off x="5241032" y="5157192"/>
            <a:ext cx="3240360" cy="1440160"/>
          </a:xfrm>
          <a:prstGeom prst="roundRect">
            <a:avLst>
              <a:gd name="adj" fmla="val 5291"/>
            </a:avLst>
          </a:prstGeom>
          <a:solidFill>
            <a:srgbClr val="A3FFCD"/>
          </a:solidFill>
          <a:ln>
            <a:solidFill>
              <a:srgbClr val="005828"/>
            </a:solidFill>
          </a:ln>
        </p:spPr>
        <p:style>
          <a:lnRef idx="3">
            <a:schemeClr val="lt1"/>
          </a:lnRef>
          <a:fillRef idx="1">
            <a:schemeClr val="accent2"/>
          </a:fillRef>
          <a:effectRef idx="1">
            <a:schemeClr val="accent2"/>
          </a:effectRef>
          <a:fontRef idx="minor">
            <a:schemeClr val="lt1"/>
          </a:fontRef>
        </p:style>
        <p:txBody>
          <a:bodyPr lIns="91428" tIns="45714" rIns="91428" bIns="45714" rtlCol="0" anchor="ctr">
            <a:normAutofit fontScale="92500" lnSpcReduction="10000"/>
          </a:bodyPr>
          <a:lstStyle/>
          <a:p>
            <a:pPr algn="just"/>
            <a:r>
              <a:rPr lang="fr-FR" sz="1300" b="1" u="sng" dirty="0" smtClean="0">
                <a:solidFill>
                  <a:srgbClr val="005828"/>
                </a:solidFill>
                <a:latin typeface="Arial Rounded MT Bold" pitchFamily="34" charset="0"/>
              </a:rPr>
              <a:t>A retenir</a:t>
            </a:r>
          </a:p>
          <a:p>
            <a:pPr algn="just"/>
            <a:endParaRPr lang="fr-FR" sz="1200" i="1" dirty="0" smtClean="0">
              <a:solidFill>
                <a:srgbClr val="005828"/>
              </a:solidFill>
              <a:latin typeface="Arial Rounded MT Bold" pitchFamily="34" charset="0"/>
            </a:endParaRPr>
          </a:p>
          <a:p>
            <a:pPr algn="just"/>
            <a:r>
              <a:rPr lang="fr-FR" sz="900" dirty="0" smtClean="0">
                <a:solidFill>
                  <a:srgbClr val="005828"/>
                </a:solidFill>
                <a:latin typeface="Arial Rounded MT Bold" pitchFamily="34" charset="0"/>
              </a:rPr>
              <a:t>Cette formation est une opportunité remarquable pour des jeunes filles et des jeunes gens dans une filière en plein développement, avec la possibilité d’une professionnalisation rapide dans des métiers très diversifiés. Ce BTS peut aussi constituer une étape, pour les élèves qui en ont la motivation, dans un parcours d’études supérieures qui peut mener jusqu’au master, un diplôme d’ingénieur ou un diplôme d’ESC.</a:t>
            </a:r>
            <a:endParaRPr lang="fr-FR" sz="1100" i="1" dirty="0" smtClean="0">
              <a:solidFill>
                <a:srgbClr val="005828"/>
              </a:solidFill>
              <a:latin typeface="Arial Rounded MT Bold" pitchFamily="34" charset="0"/>
            </a:endParaRPr>
          </a:p>
        </p:txBody>
      </p:sp>
      <p:sp>
        <p:nvSpPr>
          <p:cNvPr id="10" name="ZoneTexte 9"/>
          <p:cNvSpPr txBox="1"/>
          <p:nvPr/>
        </p:nvSpPr>
        <p:spPr>
          <a:xfrm>
            <a:off x="8697416" y="332656"/>
            <a:ext cx="1080120" cy="3539430"/>
          </a:xfrm>
          <a:prstGeom prst="rect">
            <a:avLst/>
          </a:prstGeom>
          <a:noFill/>
        </p:spPr>
        <p:txBody>
          <a:bodyPr wrap="square" rtlCol="0">
            <a:spAutoFit/>
          </a:bodyPr>
          <a:lstStyle/>
          <a:p>
            <a:r>
              <a:rPr lang="fr-FR" sz="1200" dirty="0" smtClean="0">
                <a:solidFill>
                  <a:srgbClr val="006C31"/>
                </a:solidFill>
                <a:latin typeface="Arial Rounded MT Bold" pitchFamily="34" charset="0"/>
              </a:rPr>
              <a:t>Logiciels :</a:t>
            </a:r>
          </a:p>
          <a:p>
            <a:endParaRPr lang="fr-FR" sz="1200" dirty="0" smtClean="0">
              <a:latin typeface="Arial Rounded MT Bold" pitchFamily="34" charset="0"/>
            </a:endParaRPr>
          </a:p>
          <a:p>
            <a:endParaRPr lang="fr-FR" sz="1200" dirty="0" smtClean="0">
              <a:latin typeface="Arial Rounded MT Bold" pitchFamily="34" charset="0"/>
            </a:endParaRPr>
          </a:p>
          <a:p>
            <a:r>
              <a:rPr lang="fr-FR" sz="900" dirty="0" smtClean="0">
                <a:solidFill>
                  <a:schemeClr val="bg1">
                    <a:lumMod val="85000"/>
                    <a:lumOff val="15000"/>
                  </a:schemeClr>
                </a:solidFill>
                <a:latin typeface="Arial Rounded MT Bold" pitchFamily="34" charset="0"/>
              </a:rPr>
              <a:t>Un partenariat avec Microsoft vous permet d’obtenir gratuitement des logiciels tels que :</a:t>
            </a:r>
          </a:p>
          <a:p>
            <a:pPr marL="88900" indent="-88900">
              <a:tabLst>
                <a:tab pos="88900" algn="l"/>
              </a:tabLst>
            </a:pPr>
            <a:endParaRPr lang="fr-FR" sz="800" dirty="0" smtClean="0">
              <a:solidFill>
                <a:schemeClr val="bg1">
                  <a:lumMod val="85000"/>
                  <a:lumOff val="15000"/>
                </a:schemeClr>
              </a:solidFill>
              <a:latin typeface="Arial Rounded MT Bold" pitchFamily="34" charset="0"/>
            </a:endParaRPr>
          </a:p>
          <a:p>
            <a:pPr marL="88900" indent="-88900">
              <a:buFont typeface="Arial" pitchFamily="34" charset="0"/>
              <a:buChar char="•"/>
              <a:tabLst>
                <a:tab pos="88900" algn="l"/>
              </a:tabLst>
            </a:pPr>
            <a:r>
              <a:rPr lang="fr-FR" sz="900" dirty="0" smtClean="0">
                <a:solidFill>
                  <a:srgbClr val="006C31"/>
                </a:solidFill>
                <a:latin typeface="Arial Rounded MT Bold" pitchFamily="34" charset="0"/>
              </a:rPr>
              <a:t>VISIO</a:t>
            </a:r>
          </a:p>
          <a:p>
            <a:pPr marL="88900" indent="-88900">
              <a:buFont typeface="Arial" pitchFamily="34" charset="0"/>
              <a:buChar char="•"/>
              <a:tabLst>
                <a:tab pos="88900" algn="l"/>
              </a:tabLst>
            </a:pPr>
            <a:endParaRPr lang="fr-FR" sz="900" dirty="0" smtClean="0">
              <a:solidFill>
                <a:srgbClr val="006C31"/>
              </a:solidFill>
              <a:latin typeface="Arial Rounded MT Bold" pitchFamily="34" charset="0"/>
            </a:endParaRPr>
          </a:p>
          <a:p>
            <a:pPr marL="88900" indent="-88900">
              <a:buFont typeface="Arial" pitchFamily="34" charset="0"/>
              <a:buChar char="•"/>
              <a:tabLst>
                <a:tab pos="88900" algn="l"/>
              </a:tabLst>
            </a:pPr>
            <a:r>
              <a:rPr lang="fr-FR" sz="900" dirty="0" smtClean="0">
                <a:solidFill>
                  <a:srgbClr val="006C31"/>
                </a:solidFill>
                <a:latin typeface="Arial Rounded MT Bold" pitchFamily="34" charset="0"/>
              </a:rPr>
              <a:t>Visual Studio</a:t>
            </a:r>
          </a:p>
          <a:p>
            <a:pPr marL="88900" indent="-88900">
              <a:buFont typeface="Arial" pitchFamily="34" charset="0"/>
              <a:buChar char="•"/>
              <a:tabLst>
                <a:tab pos="88900" algn="l"/>
              </a:tabLst>
            </a:pPr>
            <a:endParaRPr lang="fr-FR" sz="900" dirty="0" smtClean="0">
              <a:solidFill>
                <a:srgbClr val="006C31"/>
              </a:solidFill>
              <a:latin typeface="Arial Rounded MT Bold" pitchFamily="34" charset="0"/>
            </a:endParaRPr>
          </a:p>
          <a:p>
            <a:pPr marL="88900" indent="-88900">
              <a:buFont typeface="Arial" pitchFamily="34" charset="0"/>
              <a:buChar char="•"/>
              <a:tabLst>
                <a:tab pos="88900" algn="l"/>
              </a:tabLst>
            </a:pPr>
            <a:r>
              <a:rPr lang="fr-FR" sz="900" dirty="0" smtClean="0">
                <a:solidFill>
                  <a:srgbClr val="006C31"/>
                </a:solidFill>
                <a:latin typeface="Arial Rounded MT Bold" pitchFamily="34" charset="0"/>
              </a:rPr>
              <a:t>SE Windows</a:t>
            </a:r>
          </a:p>
          <a:p>
            <a:pPr marL="88900" indent="-88900">
              <a:buFont typeface="Arial" pitchFamily="34" charset="0"/>
              <a:buChar char="•"/>
              <a:tabLst>
                <a:tab pos="88900" algn="l"/>
              </a:tabLst>
            </a:pPr>
            <a:endParaRPr lang="fr-FR" sz="900" dirty="0" smtClean="0">
              <a:solidFill>
                <a:srgbClr val="006C31"/>
              </a:solidFill>
              <a:latin typeface="Arial Rounded MT Bold" pitchFamily="34" charset="0"/>
            </a:endParaRPr>
          </a:p>
          <a:p>
            <a:pPr marL="88900" indent="-88900">
              <a:buFont typeface="Arial" pitchFamily="34" charset="0"/>
              <a:buChar char="•"/>
              <a:tabLst>
                <a:tab pos="88900" algn="l"/>
              </a:tabLst>
            </a:pPr>
            <a:r>
              <a:rPr lang="fr-FR" sz="900" dirty="0" smtClean="0">
                <a:solidFill>
                  <a:srgbClr val="006C31"/>
                </a:solidFill>
                <a:latin typeface="Arial Rounded MT Bold" pitchFamily="34" charset="0"/>
              </a:rPr>
              <a:t>SQL Server, Access</a:t>
            </a:r>
          </a:p>
          <a:p>
            <a:pPr marL="88900" indent="-88900">
              <a:buFont typeface="Arial" pitchFamily="34" charset="0"/>
              <a:buChar char="•"/>
              <a:tabLst>
                <a:tab pos="88900" algn="l"/>
              </a:tabLst>
            </a:pPr>
            <a:endParaRPr lang="fr-FR" sz="900" dirty="0" smtClean="0">
              <a:solidFill>
                <a:schemeClr val="bg1">
                  <a:lumMod val="85000"/>
                  <a:lumOff val="15000"/>
                </a:schemeClr>
              </a:solidFill>
              <a:latin typeface="Arial Rounded MT Bold" pitchFamily="34" charset="0"/>
            </a:endParaRPr>
          </a:p>
          <a:p>
            <a:pPr marL="88900" indent="-88900">
              <a:buFont typeface="Arial" pitchFamily="34" charset="0"/>
              <a:buChar char="•"/>
              <a:tabLst>
                <a:tab pos="88900" algn="l"/>
              </a:tabLst>
            </a:pPr>
            <a:endParaRPr lang="fr-FR" sz="900" dirty="0" smtClean="0">
              <a:solidFill>
                <a:schemeClr val="bg1">
                  <a:lumMod val="85000"/>
                  <a:lumOff val="15000"/>
                </a:schemeClr>
              </a:solidFill>
              <a:latin typeface="Arial Rounded MT Bold" pitchFamily="34" charset="0"/>
            </a:endParaRPr>
          </a:p>
          <a:p>
            <a:r>
              <a:rPr lang="fr-FR" sz="900" dirty="0" smtClean="0">
                <a:solidFill>
                  <a:schemeClr val="bg1">
                    <a:lumMod val="85000"/>
                    <a:lumOff val="15000"/>
                  </a:schemeClr>
                </a:solidFill>
                <a:latin typeface="Arial Rounded MT Bold" pitchFamily="34" charset="0"/>
              </a:rPr>
              <a:t>Accès à </a:t>
            </a:r>
            <a:r>
              <a:rPr lang="fr-FR" sz="900" dirty="0" err="1" smtClean="0">
                <a:solidFill>
                  <a:schemeClr val="bg1">
                    <a:lumMod val="85000"/>
                    <a:lumOff val="15000"/>
                  </a:schemeClr>
                </a:solidFill>
                <a:latin typeface="Arial Rounded MT Bold" pitchFamily="34" charset="0"/>
              </a:rPr>
              <a:t>DreamsPark</a:t>
            </a:r>
            <a:r>
              <a:rPr lang="fr-FR" sz="900" dirty="0" smtClean="0">
                <a:solidFill>
                  <a:schemeClr val="bg1">
                    <a:lumMod val="85000"/>
                    <a:lumOff val="15000"/>
                  </a:schemeClr>
                </a:solidFill>
                <a:latin typeface="Arial Rounded MT Bold" pitchFamily="34" charset="0"/>
              </a:rPr>
              <a:t> Premium</a:t>
            </a:r>
          </a:p>
        </p:txBody>
      </p:sp>
      <p:pic>
        <p:nvPicPr>
          <p:cNvPr id="14" name="Image 13" descr="ordinateur.jpg"/>
          <p:cNvPicPr>
            <a:picLocks noChangeAspect="1"/>
          </p:cNvPicPr>
          <p:nvPr/>
        </p:nvPicPr>
        <p:blipFill>
          <a:blip r:embed="rId2" cstate="print">
            <a:clrChange>
              <a:clrFrom>
                <a:srgbClr val="FFFFFF"/>
              </a:clrFrom>
              <a:clrTo>
                <a:srgbClr val="FFFFFF">
                  <a:alpha val="0"/>
                </a:srgbClr>
              </a:clrTo>
            </a:clrChange>
          </a:blip>
          <a:srcRect l="5747" t="17534" r="2059" b="8258"/>
          <a:stretch>
            <a:fillRect/>
          </a:stretch>
        </p:blipFill>
        <p:spPr>
          <a:xfrm>
            <a:off x="8769424" y="4365104"/>
            <a:ext cx="936104" cy="599107"/>
          </a:xfrm>
          <a:prstGeom prst="rect">
            <a:avLst/>
          </a:prstGeom>
        </p:spPr>
      </p:pic>
      <p:pic>
        <p:nvPicPr>
          <p:cNvPr id="21" name="Image 20" descr="SIO-exemple.jpg"/>
          <p:cNvPicPr>
            <a:picLocks noChangeAspect="1"/>
          </p:cNvPicPr>
          <p:nvPr/>
        </p:nvPicPr>
        <p:blipFill>
          <a:blip r:embed="rId3" cstate="print"/>
          <a:stretch>
            <a:fillRect/>
          </a:stretch>
        </p:blipFill>
        <p:spPr>
          <a:xfrm>
            <a:off x="1424608" y="4509120"/>
            <a:ext cx="3240360" cy="82559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23" name="Image 22" descr="400_F_67366331_tVm4uvu2gYPEuNaqwIsZVZKH71VA7C9q.jpg"/>
          <p:cNvPicPr>
            <a:picLocks noChangeAspect="1"/>
          </p:cNvPicPr>
          <p:nvPr/>
        </p:nvPicPr>
        <p:blipFill>
          <a:blip r:embed="rId4" cstate="print"/>
          <a:stretch>
            <a:fillRect/>
          </a:stretch>
        </p:blipFill>
        <p:spPr>
          <a:xfrm>
            <a:off x="1640632" y="5589240"/>
            <a:ext cx="1296144" cy="887859"/>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24" name="Image 23" descr="Rz_120a.jpg"/>
          <p:cNvPicPr>
            <a:picLocks noChangeAspect="1"/>
          </p:cNvPicPr>
          <p:nvPr/>
        </p:nvPicPr>
        <p:blipFill>
          <a:blip r:embed="rId5" cstate="print"/>
          <a:srcRect t="7568" r="3129" b="1617"/>
          <a:stretch>
            <a:fillRect/>
          </a:stretch>
        </p:blipFill>
        <p:spPr>
          <a:xfrm>
            <a:off x="3224808" y="5589240"/>
            <a:ext cx="1228958" cy="864096"/>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pex">
  <a:themeElements>
    <a:clrScheme name="Apex">
      <a:dk1>
        <a:sysClr val="windowText" lastClr="000000"/>
      </a:dk1>
      <a:lt1>
        <a:sysClr val="window" lastClr="FFFFFF"/>
      </a:lt1>
      <a:dk2>
        <a:srgbClr val="69676D"/>
      </a:dk2>
      <a:lt2>
        <a:srgbClr val="C9C2D1"/>
      </a:lt2>
      <a:accent1>
        <a:srgbClr val="CEB966"/>
      </a:accent1>
      <a:accent2>
        <a:srgbClr val="9CB084"/>
      </a:accent2>
      <a:accent3>
        <a:srgbClr val="6BB1C9"/>
      </a:accent3>
      <a:accent4>
        <a:srgbClr val="6585CF"/>
      </a:accent4>
      <a:accent5>
        <a:srgbClr val="7E6BC9"/>
      </a:accent5>
      <a:accent6>
        <a:srgbClr val="A379BB"/>
      </a:accent6>
      <a:hlink>
        <a:srgbClr val="410082"/>
      </a:hlink>
      <a:folHlink>
        <a:srgbClr val="932968"/>
      </a:folHlink>
    </a:clrScheme>
    <a:fontScheme name="Apex">
      <a:majorFont>
        <a:latin typeface="Lucida Sans"/>
        <a:ea typeface=""/>
        <a:cs typeface=""/>
        <a:font script="Grek" typeface="Arial"/>
        <a:font script="Cyrl" typeface="Arial"/>
        <a:font script="Jpan" typeface="HG丸ｺﾞｼｯｸM-PRO"/>
        <a:font script="Hang" typeface="휴먼옛체"/>
        <a:font script="Hans" typeface="黑体"/>
        <a:font script="Hant" typeface="微軟正黑體"/>
        <a:font script="Arab" typeface="Tahoma"/>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Book Antiqua"/>
        <a:ea typeface=""/>
        <a:cs typeface=""/>
        <a:font script="Grek" typeface="Times New Roman"/>
        <a:font script="Cyrl" typeface="Times New Roman"/>
        <a:font script="Jpan" typeface="HG明朝B"/>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Apex">
      <a:fillStyleLst>
        <a:solidFill>
          <a:schemeClr val="phClr"/>
        </a:solidFill>
        <a:gradFill rotWithShape="1">
          <a:gsLst>
            <a:gs pos="20000">
              <a:schemeClr val="phClr">
                <a:tint val="9000"/>
              </a:schemeClr>
            </a:gs>
            <a:gs pos="100000">
              <a:schemeClr val="phClr">
                <a:tint val="70000"/>
                <a:satMod val="100000"/>
              </a:schemeClr>
            </a:gs>
          </a:gsLst>
          <a:path path="circle">
            <a:fillToRect l="-15000" t="-15000" r="115000" b="115000"/>
          </a:path>
        </a:gradFill>
        <a:gradFill rotWithShape="1">
          <a:gsLst>
            <a:gs pos="0">
              <a:schemeClr val="phClr">
                <a:shade val="60000"/>
              </a:schemeClr>
            </a:gs>
            <a:gs pos="33000">
              <a:schemeClr val="phClr">
                <a:tint val="86500"/>
              </a:schemeClr>
            </a:gs>
            <a:gs pos="46750">
              <a:schemeClr val="phClr">
                <a:tint val="71000"/>
                <a:satMod val="112000"/>
              </a:schemeClr>
            </a:gs>
            <a:gs pos="53000">
              <a:schemeClr val="phClr">
                <a:tint val="71000"/>
                <a:satMod val="112000"/>
              </a:schemeClr>
            </a:gs>
            <a:gs pos="68000">
              <a:schemeClr val="phClr">
                <a:tint val="86000"/>
              </a:schemeClr>
            </a:gs>
            <a:gs pos="100000">
              <a:schemeClr val="phClr">
                <a:shade val="60000"/>
              </a:schemeClr>
            </a:gs>
          </a:gsLst>
          <a:lin ang="8350000" scaled="1"/>
        </a:gradFill>
      </a:fillStyleLst>
      <a:lnStyleLst>
        <a:ln w="9525" cap="flat" cmpd="sng" algn="ctr">
          <a:solidFill>
            <a:schemeClr val="phClr">
              <a:shade val="48000"/>
              <a:satMod val="11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130000" dist="101600" dir="2700000" algn="tl" rotWithShape="0">
              <a:srgbClr val="000000">
                <a:alpha val="35000"/>
              </a:srgbClr>
            </a:outerShdw>
          </a:effectLst>
        </a:effectStyle>
        <a:effectStyle>
          <a:effectLst>
            <a:outerShdw blurRad="190500" dist="228600" dir="2700000" sy="90000" rotWithShape="0">
              <a:srgbClr val="000000">
                <a:alpha val="25500"/>
              </a:srgbClr>
            </a:outerShdw>
          </a:effectLst>
        </a:effectStyle>
        <a:effectStyle>
          <a:effectLst>
            <a:outerShdw blurRad="190500" dist="228600" dir="2700000" sy="90000" rotWithShape="0">
              <a:srgbClr val="000000">
                <a:alpha val="25500"/>
              </a:srgbClr>
            </a:outerShdw>
          </a:effectLst>
          <a:scene3d>
            <a:camera prst="orthographicFront" fov="0">
              <a:rot lat="0" lon="0" rev="0"/>
            </a:camera>
            <a:lightRig rig="soft" dir="tl">
              <a:rot lat="0" lon="0" rev="20100000"/>
            </a:lightRig>
          </a:scene3d>
          <a:sp3d>
            <a:bevelT w="50800" h="50800"/>
          </a:sp3d>
        </a:effectStyle>
      </a:effectStyleLst>
      <a:bgFillStyleLst>
        <a:solidFill>
          <a:schemeClr val="phClr"/>
        </a:solidFill>
        <a:gradFill rotWithShape="1">
          <a:gsLst>
            <a:gs pos="0">
              <a:schemeClr val="phClr">
                <a:tint val="50000"/>
                <a:satMod val="180000"/>
              </a:schemeClr>
            </a:gs>
            <a:gs pos="100000">
              <a:schemeClr val="phClr">
                <a:shade val="45000"/>
                <a:satMod val="120000"/>
              </a:schemeClr>
            </a:gs>
          </a:gsLst>
          <a:path path="circle">
            <a:fillToRect r="100000" b="100000"/>
          </a:path>
        </a:gradFill>
        <a:blipFill>
          <a:blip xmlns:r="http://schemas.openxmlformats.org/officeDocument/2006/relationships" r:embed="rId1">
            <a:duotone>
              <a:schemeClr val="phClr">
                <a:shade val="3000"/>
                <a:satMod val="110000"/>
              </a:schemeClr>
              <a:schemeClr val="phClr">
                <a:tint val="60000"/>
                <a:satMod val="425000"/>
              </a:schemeClr>
            </a:duotone>
          </a:blip>
          <a:stretch>
            <a:fillRect/>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Apex</Template>
  <TotalTime>2556</TotalTime>
  <Words>819</Words>
  <Application>Microsoft Office PowerPoint</Application>
  <PresentationFormat>Format A4 (210 x 297 mm)</PresentationFormat>
  <Paragraphs>255</Paragraphs>
  <Slides>2</Slides>
  <Notes>0</Notes>
  <HiddenSlides>0</HiddenSlides>
  <MMClips>0</MMClips>
  <ScaleCrop>false</ScaleCrop>
  <HeadingPairs>
    <vt:vector size="4" baseType="variant">
      <vt:variant>
        <vt:lpstr>Thème</vt:lpstr>
      </vt:variant>
      <vt:variant>
        <vt:i4>1</vt:i4>
      </vt:variant>
      <vt:variant>
        <vt:lpstr>Titres des diapositives</vt:lpstr>
      </vt:variant>
      <vt:variant>
        <vt:i4>2</vt:i4>
      </vt:variant>
    </vt:vector>
  </HeadingPairs>
  <TitlesOfParts>
    <vt:vector size="3" baseType="lpstr">
      <vt:lpstr>Apex</vt:lpstr>
      <vt:lpstr>Diapositive 1</vt:lpstr>
      <vt:lpstr>Diapositive 2</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BTS Banque</dc:title>
  <dc:creator> </dc:creator>
  <cp:lastModifiedBy> </cp:lastModifiedBy>
  <cp:revision>80</cp:revision>
  <dcterms:created xsi:type="dcterms:W3CDTF">2014-06-30T09:10:03Z</dcterms:created>
  <dcterms:modified xsi:type="dcterms:W3CDTF">2014-12-09T08:49:05Z</dcterms:modified>
</cp:coreProperties>
</file>