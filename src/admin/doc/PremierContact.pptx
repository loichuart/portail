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0693400" cy="7561263"/>
  <p:notesSz cx="6797675" cy="9926638"/>
  <p:defaultTextStyle>
    <a:defPPr>
      <a:defRPr lang="fr-FR"/>
    </a:defPPr>
    <a:lvl1pPr marL="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07A9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6" d="100"/>
          <a:sy n="96" d="100"/>
        </p:scale>
        <p:origin x="-1482" y="-108"/>
      </p:cViewPr>
      <p:guideLst>
        <p:guide orient="horz" pos="2382"/>
        <p:guide pos="33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02005" y="2348893"/>
            <a:ext cx="9089390" cy="1620771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604010" y="4284716"/>
            <a:ext cx="7485380" cy="193232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15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430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645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861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07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291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506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1722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17FF9-7E6E-4766-A919-377F893C0695}" type="datetimeFigureOut">
              <a:rPr lang="fr-FR" smtClean="0"/>
              <a:pPr/>
              <a:t>19/01/2016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11B6-1709-4555-A6D1-5D1589E497D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17FF9-7E6E-4766-A919-377F893C0695}" type="datetimeFigureOut">
              <a:rPr lang="fr-FR" smtClean="0"/>
              <a:pPr/>
              <a:t>19/01/2016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11B6-1709-4555-A6D1-5D1589E497D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44705" y="4858812"/>
            <a:ext cx="9089390" cy="1501751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44705" y="3204786"/>
            <a:ext cx="9089390" cy="1654026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1528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4305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645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861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076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291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5069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17222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17FF9-7E6E-4766-A919-377F893C0695}" type="datetimeFigureOut">
              <a:rPr lang="fr-FR" smtClean="0"/>
              <a:pPr/>
              <a:t>19/01/2016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11B6-1709-4555-A6D1-5D1589E497D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34670" y="1764295"/>
            <a:ext cx="4722918" cy="4990084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435812" y="1764295"/>
            <a:ext cx="4722918" cy="4990084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17FF9-7E6E-4766-A919-377F893C0695}" type="datetimeFigureOut">
              <a:rPr lang="fr-FR" smtClean="0"/>
              <a:pPr/>
              <a:t>19/01/2016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11B6-1709-4555-A6D1-5D1589E497D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4670" y="1692533"/>
            <a:ext cx="4724775" cy="705367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21528" indent="0">
              <a:buNone/>
              <a:defRPr sz="2300" b="1"/>
            </a:lvl2pPr>
            <a:lvl3pPr marL="1043056" indent="0">
              <a:buNone/>
              <a:defRPr sz="2100" b="1"/>
            </a:lvl3pPr>
            <a:lvl4pPr marL="1564584" indent="0">
              <a:buNone/>
              <a:defRPr sz="1800" b="1"/>
            </a:lvl4pPr>
            <a:lvl5pPr marL="2086112" indent="0">
              <a:buNone/>
              <a:defRPr sz="1800" b="1"/>
            </a:lvl5pPr>
            <a:lvl6pPr marL="2607640" indent="0">
              <a:buNone/>
              <a:defRPr sz="1800" b="1"/>
            </a:lvl6pPr>
            <a:lvl7pPr marL="3129168" indent="0">
              <a:buNone/>
              <a:defRPr sz="1800" b="1"/>
            </a:lvl7pPr>
            <a:lvl8pPr marL="3650696" indent="0">
              <a:buNone/>
              <a:defRPr sz="1800" b="1"/>
            </a:lvl8pPr>
            <a:lvl9pPr marL="4172224" indent="0">
              <a:buNone/>
              <a:defRPr sz="18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34670" y="2397901"/>
            <a:ext cx="4724775" cy="4356478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432099" y="1692533"/>
            <a:ext cx="4726631" cy="705367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21528" indent="0">
              <a:buNone/>
              <a:defRPr sz="2300" b="1"/>
            </a:lvl2pPr>
            <a:lvl3pPr marL="1043056" indent="0">
              <a:buNone/>
              <a:defRPr sz="2100" b="1"/>
            </a:lvl3pPr>
            <a:lvl4pPr marL="1564584" indent="0">
              <a:buNone/>
              <a:defRPr sz="1800" b="1"/>
            </a:lvl4pPr>
            <a:lvl5pPr marL="2086112" indent="0">
              <a:buNone/>
              <a:defRPr sz="1800" b="1"/>
            </a:lvl5pPr>
            <a:lvl6pPr marL="2607640" indent="0">
              <a:buNone/>
              <a:defRPr sz="1800" b="1"/>
            </a:lvl6pPr>
            <a:lvl7pPr marL="3129168" indent="0">
              <a:buNone/>
              <a:defRPr sz="1800" b="1"/>
            </a:lvl7pPr>
            <a:lvl8pPr marL="3650696" indent="0">
              <a:buNone/>
              <a:defRPr sz="1800" b="1"/>
            </a:lvl8pPr>
            <a:lvl9pPr marL="4172224" indent="0">
              <a:buNone/>
              <a:defRPr sz="18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432099" y="2397901"/>
            <a:ext cx="4726631" cy="4356478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17FF9-7E6E-4766-A919-377F893C0695}" type="datetimeFigureOut">
              <a:rPr lang="fr-FR" smtClean="0"/>
              <a:pPr/>
              <a:t>19/01/2016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11B6-1709-4555-A6D1-5D1589E497D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17FF9-7E6E-4766-A919-377F893C0695}" type="datetimeFigureOut">
              <a:rPr lang="fr-FR" smtClean="0"/>
              <a:pPr/>
              <a:t>19/01/2016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11B6-1709-4555-A6D1-5D1589E497D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17FF9-7E6E-4766-A919-377F893C0695}" type="datetimeFigureOut">
              <a:rPr lang="fr-FR" smtClean="0"/>
              <a:pPr/>
              <a:t>19/01/2016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11B6-1709-4555-A6D1-5D1589E497D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4671" y="301050"/>
            <a:ext cx="3518055" cy="128121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180822" y="301051"/>
            <a:ext cx="5977908" cy="6453328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34671" y="1582265"/>
            <a:ext cx="3518055" cy="5172114"/>
          </a:xfrm>
        </p:spPr>
        <p:txBody>
          <a:bodyPr/>
          <a:lstStyle>
            <a:lvl1pPr marL="0" indent="0">
              <a:buNone/>
              <a:defRPr sz="1600"/>
            </a:lvl1pPr>
            <a:lvl2pPr marL="521528" indent="0">
              <a:buNone/>
              <a:defRPr sz="1400"/>
            </a:lvl2pPr>
            <a:lvl3pPr marL="1043056" indent="0">
              <a:buNone/>
              <a:defRPr sz="1100"/>
            </a:lvl3pPr>
            <a:lvl4pPr marL="1564584" indent="0">
              <a:buNone/>
              <a:defRPr sz="1000"/>
            </a:lvl4pPr>
            <a:lvl5pPr marL="2086112" indent="0">
              <a:buNone/>
              <a:defRPr sz="1000"/>
            </a:lvl5pPr>
            <a:lvl6pPr marL="2607640" indent="0">
              <a:buNone/>
              <a:defRPr sz="1000"/>
            </a:lvl6pPr>
            <a:lvl7pPr marL="3129168" indent="0">
              <a:buNone/>
              <a:defRPr sz="1000"/>
            </a:lvl7pPr>
            <a:lvl8pPr marL="3650696" indent="0">
              <a:buNone/>
              <a:defRPr sz="1000"/>
            </a:lvl8pPr>
            <a:lvl9pPr marL="4172224" indent="0">
              <a:buNone/>
              <a:defRPr sz="1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17FF9-7E6E-4766-A919-377F893C0695}" type="datetimeFigureOut">
              <a:rPr lang="fr-FR" smtClean="0"/>
              <a:pPr/>
              <a:t>19/01/2016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11B6-1709-4555-A6D1-5D1589E497D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95981" y="5292884"/>
            <a:ext cx="6416040" cy="624855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095981" y="675613"/>
            <a:ext cx="6416040" cy="4536758"/>
          </a:xfrm>
        </p:spPr>
        <p:txBody>
          <a:bodyPr/>
          <a:lstStyle>
            <a:lvl1pPr marL="0" indent="0">
              <a:buNone/>
              <a:defRPr sz="3700"/>
            </a:lvl1pPr>
            <a:lvl2pPr marL="521528" indent="0">
              <a:buNone/>
              <a:defRPr sz="3200"/>
            </a:lvl2pPr>
            <a:lvl3pPr marL="1043056" indent="0">
              <a:buNone/>
              <a:defRPr sz="2700"/>
            </a:lvl3pPr>
            <a:lvl4pPr marL="1564584" indent="0">
              <a:buNone/>
              <a:defRPr sz="2300"/>
            </a:lvl4pPr>
            <a:lvl5pPr marL="2086112" indent="0">
              <a:buNone/>
              <a:defRPr sz="2300"/>
            </a:lvl5pPr>
            <a:lvl6pPr marL="2607640" indent="0">
              <a:buNone/>
              <a:defRPr sz="2300"/>
            </a:lvl6pPr>
            <a:lvl7pPr marL="3129168" indent="0">
              <a:buNone/>
              <a:defRPr sz="2300"/>
            </a:lvl7pPr>
            <a:lvl8pPr marL="3650696" indent="0">
              <a:buNone/>
              <a:defRPr sz="2300"/>
            </a:lvl8pPr>
            <a:lvl9pPr marL="4172224" indent="0">
              <a:buNone/>
              <a:defRPr sz="23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095981" y="5917739"/>
            <a:ext cx="6416040" cy="887398"/>
          </a:xfrm>
        </p:spPr>
        <p:txBody>
          <a:bodyPr/>
          <a:lstStyle>
            <a:lvl1pPr marL="0" indent="0">
              <a:buNone/>
              <a:defRPr sz="1600"/>
            </a:lvl1pPr>
            <a:lvl2pPr marL="521528" indent="0">
              <a:buNone/>
              <a:defRPr sz="1400"/>
            </a:lvl2pPr>
            <a:lvl3pPr marL="1043056" indent="0">
              <a:buNone/>
              <a:defRPr sz="1100"/>
            </a:lvl3pPr>
            <a:lvl4pPr marL="1564584" indent="0">
              <a:buNone/>
              <a:defRPr sz="1000"/>
            </a:lvl4pPr>
            <a:lvl5pPr marL="2086112" indent="0">
              <a:buNone/>
              <a:defRPr sz="1000"/>
            </a:lvl5pPr>
            <a:lvl6pPr marL="2607640" indent="0">
              <a:buNone/>
              <a:defRPr sz="1000"/>
            </a:lvl6pPr>
            <a:lvl7pPr marL="3129168" indent="0">
              <a:buNone/>
              <a:defRPr sz="1000"/>
            </a:lvl7pPr>
            <a:lvl8pPr marL="3650696" indent="0">
              <a:buNone/>
              <a:defRPr sz="1000"/>
            </a:lvl8pPr>
            <a:lvl9pPr marL="4172224" indent="0">
              <a:buNone/>
              <a:defRPr sz="1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17FF9-7E6E-4766-A919-377F893C0695}" type="datetimeFigureOut">
              <a:rPr lang="fr-FR" smtClean="0"/>
              <a:pPr/>
              <a:t>19/01/2016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11B6-1709-4555-A6D1-5D1589E497D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17FF9-7E6E-4766-A919-377F893C0695}" type="datetimeFigureOut">
              <a:rPr lang="fr-FR" smtClean="0"/>
              <a:pPr/>
              <a:t>19/01/2016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11B6-1709-4555-A6D1-5D1589E497D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752715" y="302802"/>
            <a:ext cx="2406015" cy="6451578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534670" y="302802"/>
            <a:ext cx="7039822" cy="6451578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17FF9-7E6E-4766-A919-377F893C0695}" type="datetimeFigureOut">
              <a:rPr lang="fr-FR" smtClean="0"/>
              <a:pPr/>
              <a:t>19/01/2016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11B6-1709-4555-A6D1-5D1589E497D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34670" y="302801"/>
            <a:ext cx="9624060" cy="1260211"/>
          </a:xfrm>
          <a:prstGeom prst="rect">
            <a:avLst/>
          </a:prstGeom>
        </p:spPr>
        <p:txBody>
          <a:bodyPr vert="horz" lIns="104306" tIns="52153" rIns="104306" bIns="52153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4670" y="1764295"/>
            <a:ext cx="9624060" cy="4990084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34670" y="7008171"/>
            <a:ext cx="2495127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17FF9-7E6E-4766-A919-377F893C0695}" type="datetimeFigureOut">
              <a:rPr lang="fr-FR" smtClean="0"/>
              <a:pPr/>
              <a:t>19/01/2016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653579" y="7008171"/>
            <a:ext cx="3386243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7663603" y="7008171"/>
            <a:ext cx="2495127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E11B6-1709-4555-A6D1-5D1589E497D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43056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1146" indent="-391146" algn="l" defTabSz="1043056" rtl="0" eaLnBrk="1" latinLnBrk="0" hangingPunct="1">
        <a:spcBef>
          <a:spcPct val="20000"/>
        </a:spcBef>
        <a:buFont typeface="Arial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47483" indent="-325955" algn="l" defTabSz="1043056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03820" indent="-260764" algn="l" defTabSz="1043056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825348" indent="-260764" algn="l" defTabSz="1043056" rtl="0" eaLnBrk="1" latinLnBrk="0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46876" indent="-260764" algn="l" defTabSz="1043056" rtl="0" eaLnBrk="1" latinLnBrk="0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68404" indent="-260764" algn="l" defTabSz="104305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932" indent="-260764" algn="l" defTabSz="104305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1460" indent="-260764" algn="l" defTabSz="104305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2988" indent="-260764" algn="l" defTabSz="104305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528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3056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584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6112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640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9168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696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2224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ogo_marianne_20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46300" y="828303"/>
            <a:ext cx="1561310" cy="1976080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  <a:effectLst/>
        </p:spPr>
      </p:pic>
      <p:pic>
        <p:nvPicPr>
          <p:cNvPr id="1027" name="Picture 3" descr="image00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720" y="6718142"/>
            <a:ext cx="1110183" cy="712368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  <a:effectLst/>
        </p:spPr>
      </p:pic>
      <p:pic>
        <p:nvPicPr>
          <p:cNvPr id="1029" name="Picture 5" descr="08_lycee_mongerogné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83538" y="128593"/>
            <a:ext cx="1253132" cy="1429988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  <a:effectLst/>
        </p:spPr>
      </p:pic>
      <p:sp>
        <p:nvSpPr>
          <p:cNvPr id="8" name="ZoneTexte 7"/>
          <p:cNvSpPr txBox="1"/>
          <p:nvPr/>
        </p:nvSpPr>
        <p:spPr>
          <a:xfrm>
            <a:off x="5706739" y="2272180"/>
            <a:ext cx="4986661" cy="5183638"/>
          </a:xfrm>
          <a:prstGeom prst="rect">
            <a:avLst/>
          </a:prstGeom>
          <a:noFill/>
        </p:spPr>
        <p:txBody>
          <a:bodyPr wrap="square" lIns="104306" tIns="52153" rIns="104306" bIns="52153" rtlCol="0">
            <a:spAutoFit/>
          </a:bodyPr>
          <a:lstStyle/>
          <a:p>
            <a:pPr algn="ctr"/>
            <a:r>
              <a:rPr lang="fr-FR" sz="4600" b="1" dirty="0">
                <a:solidFill>
                  <a:srgbClr val="00B050"/>
                </a:solidFill>
                <a:latin typeface="+mj-lt"/>
              </a:rPr>
              <a:t>FICHE PREMIER</a:t>
            </a:r>
          </a:p>
          <a:p>
            <a:pPr algn="ctr"/>
            <a:r>
              <a:rPr lang="fr-FR" sz="4600" b="1" dirty="0">
                <a:solidFill>
                  <a:srgbClr val="00B050"/>
                </a:solidFill>
                <a:latin typeface="+mj-lt"/>
              </a:rPr>
              <a:t>CONTACT</a:t>
            </a:r>
          </a:p>
          <a:p>
            <a:pPr algn="ctr"/>
            <a:endParaRPr lang="fr-FR" sz="4600" b="1" dirty="0">
              <a:solidFill>
                <a:srgbClr val="00B050"/>
              </a:solidFill>
              <a:latin typeface="+mj-lt"/>
            </a:endParaRPr>
          </a:p>
          <a:p>
            <a:pPr algn="ctr"/>
            <a:r>
              <a:rPr lang="fr-FR" sz="4600" b="1" dirty="0">
                <a:solidFill>
                  <a:srgbClr val="00B050"/>
                </a:solidFill>
                <a:latin typeface="+mj-lt"/>
              </a:rPr>
              <a:t>BTS </a:t>
            </a:r>
            <a:r>
              <a:rPr lang="fr-FR" sz="4600" b="1" dirty="0" smtClean="0">
                <a:solidFill>
                  <a:srgbClr val="00B050"/>
                </a:solidFill>
                <a:latin typeface="+mj-lt"/>
              </a:rPr>
              <a:t>SIO</a:t>
            </a:r>
            <a:endParaRPr lang="fr-FR" sz="4600" b="1" dirty="0">
              <a:solidFill>
                <a:srgbClr val="00B050"/>
              </a:solidFill>
              <a:latin typeface="+mj-lt"/>
            </a:endParaRPr>
          </a:p>
          <a:p>
            <a:pPr algn="ctr"/>
            <a:endParaRPr lang="fr-FR" sz="3200" b="1" dirty="0">
              <a:solidFill>
                <a:srgbClr val="00B050"/>
              </a:solidFill>
              <a:latin typeface="+mj-lt"/>
            </a:endParaRPr>
          </a:p>
          <a:p>
            <a:pPr algn="ctr"/>
            <a:endParaRPr lang="fr-FR" sz="4100" b="1" dirty="0">
              <a:solidFill>
                <a:srgbClr val="00B050"/>
              </a:solidFill>
              <a:latin typeface="+mj-lt"/>
            </a:endParaRPr>
          </a:p>
          <a:p>
            <a:pPr algn="ctr"/>
            <a:endParaRPr lang="fr-FR" sz="4100" b="1" dirty="0">
              <a:solidFill>
                <a:srgbClr val="00B050"/>
              </a:solidFill>
              <a:latin typeface="+mj-lt"/>
            </a:endParaRPr>
          </a:p>
          <a:p>
            <a:pPr algn="ctr"/>
            <a:r>
              <a:rPr lang="fr-FR" sz="1600" b="1" dirty="0">
                <a:solidFill>
                  <a:srgbClr val="00B050"/>
                </a:solidFill>
                <a:latin typeface="+mj-lt"/>
              </a:rPr>
              <a:t>Lycée Monge – 2 avenue de Saint-Julien</a:t>
            </a:r>
          </a:p>
          <a:p>
            <a:pPr algn="ctr"/>
            <a:r>
              <a:rPr lang="fr-FR" sz="1600" b="1" dirty="0">
                <a:solidFill>
                  <a:srgbClr val="00B050"/>
                </a:solidFill>
                <a:latin typeface="+mj-lt"/>
              </a:rPr>
              <a:t>08000 Charleville-Mézières</a:t>
            </a:r>
          </a:p>
        </p:txBody>
      </p:sp>
      <p:pic>
        <p:nvPicPr>
          <p:cNvPr id="7" name="Image 6" descr="Région ACAL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754412" y="6660951"/>
            <a:ext cx="2376264" cy="7840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287376"/>
            <a:ext cx="5220980" cy="6827726"/>
          </a:xfrm>
          <a:prstGeom prst="rect">
            <a:avLst/>
          </a:prstGeom>
          <a:noFill/>
        </p:spPr>
        <p:txBody>
          <a:bodyPr wrap="square" lIns="104306" tIns="52153" rIns="104306" bIns="52153" rtlCol="0">
            <a:noAutofit/>
          </a:bodyPr>
          <a:lstStyle/>
          <a:p>
            <a:r>
              <a:rPr lang="fr-FR" b="1" u="sng" dirty="0" smtClean="0"/>
              <a:t>CIVILITÉ</a:t>
            </a:r>
            <a:r>
              <a:rPr lang="fr-FR" sz="2000" dirty="0" smtClean="0"/>
              <a:t> </a:t>
            </a:r>
            <a:r>
              <a:rPr lang="fr-FR" dirty="0" smtClean="0"/>
              <a:t>:</a:t>
            </a:r>
          </a:p>
          <a:p>
            <a:endParaRPr lang="fr-FR" sz="1600" dirty="0" smtClean="0"/>
          </a:p>
          <a:p>
            <a:pPr>
              <a:tabLst>
                <a:tab pos="2453718" algn="l"/>
              </a:tabLst>
            </a:pPr>
            <a:r>
              <a:rPr lang="fr-FR" sz="1800" dirty="0"/>
              <a:t>Nom :  </a:t>
            </a:r>
            <a:r>
              <a:rPr lang="fr-FR" sz="1800" dirty="0" smtClean="0"/>
              <a:t>………………………….</a:t>
            </a:r>
            <a:r>
              <a:rPr lang="fr-FR" sz="1800" dirty="0"/>
              <a:t>	Prénom </a:t>
            </a:r>
            <a:r>
              <a:rPr lang="fr-FR" sz="1800" dirty="0" smtClean="0"/>
              <a:t>: ………………………….</a:t>
            </a:r>
            <a:endParaRPr lang="fr-FR" sz="1800" dirty="0"/>
          </a:p>
          <a:p>
            <a:pPr>
              <a:tabLst>
                <a:tab pos="2453718" algn="l"/>
              </a:tabLst>
            </a:pPr>
            <a:r>
              <a:rPr lang="fr-FR" sz="1800" dirty="0"/>
              <a:t>Adresse : </a:t>
            </a:r>
            <a:r>
              <a:rPr lang="fr-FR" sz="1800" dirty="0" smtClean="0"/>
              <a:t>……………………………………..……………………………</a:t>
            </a:r>
            <a:endParaRPr lang="fr-FR" sz="1800" dirty="0"/>
          </a:p>
          <a:p>
            <a:pPr>
              <a:tabLst>
                <a:tab pos="2453718" algn="l"/>
              </a:tabLst>
            </a:pPr>
            <a:r>
              <a:rPr lang="fr-FR" sz="1800" dirty="0"/>
              <a:t>Code postal : </a:t>
            </a:r>
            <a:r>
              <a:rPr lang="fr-FR" sz="1800" dirty="0" smtClean="0"/>
              <a:t> ……………….</a:t>
            </a:r>
            <a:r>
              <a:rPr lang="fr-FR" sz="1800" dirty="0"/>
              <a:t>	Ville </a:t>
            </a:r>
            <a:r>
              <a:rPr lang="fr-FR" sz="1800" dirty="0" smtClean="0"/>
              <a:t>: ……………………………….</a:t>
            </a:r>
            <a:endParaRPr lang="fr-FR" sz="1800" dirty="0"/>
          </a:p>
          <a:p>
            <a:pPr>
              <a:tabLst>
                <a:tab pos="2453718" algn="l"/>
              </a:tabLst>
            </a:pPr>
            <a:r>
              <a:rPr lang="fr-FR" sz="1800" dirty="0"/>
              <a:t>Tél. fixe </a:t>
            </a:r>
            <a:r>
              <a:rPr lang="fr-FR" sz="1800" dirty="0" smtClean="0"/>
              <a:t>:   … /… /… /… /…	Tél</a:t>
            </a:r>
            <a:r>
              <a:rPr lang="fr-FR" sz="1800" dirty="0"/>
              <a:t>. port. </a:t>
            </a:r>
            <a:r>
              <a:rPr lang="fr-FR" sz="1800" dirty="0" smtClean="0"/>
              <a:t>:    … /… /… /… /…</a:t>
            </a:r>
            <a:endParaRPr lang="fr-FR" sz="1800" dirty="0"/>
          </a:p>
          <a:p>
            <a:pPr>
              <a:tabLst>
                <a:tab pos="2453718" algn="l"/>
              </a:tabLst>
            </a:pPr>
            <a:r>
              <a:rPr lang="fr-FR" sz="1800" dirty="0"/>
              <a:t>Mail </a:t>
            </a:r>
            <a:r>
              <a:rPr lang="fr-FR" sz="1800" dirty="0" smtClean="0"/>
              <a:t>: ………………………..………</a:t>
            </a:r>
            <a:r>
              <a:rPr lang="fr-FR" sz="1800" dirty="0" smtClean="0">
                <a:latin typeface="Calibri"/>
              </a:rPr>
              <a:t>@</a:t>
            </a:r>
            <a:r>
              <a:rPr lang="fr-FR" sz="1800" dirty="0" smtClean="0"/>
              <a:t>…………………………………..</a:t>
            </a:r>
            <a:endParaRPr lang="fr-FR" sz="1800" dirty="0"/>
          </a:p>
          <a:p>
            <a:pPr>
              <a:tabLst>
                <a:tab pos="2453718" algn="l"/>
              </a:tabLst>
            </a:pPr>
            <a:r>
              <a:rPr lang="fr-FR" sz="1800" dirty="0"/>
              <a:t>Date de naissance </a:t>
            </a:r>
            <a:r>
              <a:rPr lang="fr-FR" sz="1800" dirty="0" smtClean="0"/>
              <a:t>:  …. / …. / ……..</a:t>
            </a:r>
            <a:endParaRPr lang="fr-FR" sz="1800" dirty="0"/>
          </a:p>
          <a:p>
            <a:pPr>
              <a:tabLst>
                <a:tab pos="2453718" algn="l"/>
              </a:tabLst>
            </a:pPr>
            <a:endParaRPr lang="fr-FR" sz="1800" dirty="0"/>
          </a:p>
          <a:p>
            <a:pPr>
              <a:tabLst>
                <a:tab pos="2453718" algn="l"/>
              </a:tabLst>
            </a:pPr>
            <a:r>
              <a:rPr lang="fr-FR" b="1" u="sng" dirty="0" smtClean="0"/>
              <a:t>FORMATION</a:t>
            </a:r>
            <a:r>
              <a:rPr lang="fr-FR" sz="1800" dirty="0"/>
              <a:t> :</a:t>
            </a:r>
          </a:p>
          <a:p>
            <a:pPr>
              <a:tabLst>
                <a:tab pos="2453718" algn="l"/>
              </a:tabLst>
            </a:pPr>
            <a:endParaRPr lang="fr-FR" sz="1800" dirty="0"/>
          </a:p>
          <a:p>
            <a:pPr>
              <a:tabLst>
                <a:tab pos="2453718" algn="l"/>
              </a:tabLst>
            </a:pPr>
            <a:endParaRPr lang="fr-FR" sz="1800" dirty="0"/>
          </a:p>
          <a:p>
            <a:pPr>
              <a:tabLst>
                <a:tab pos="2453718" algn="l"/>
              </a:tabLst>
            </a:pPr>
            <a:endParaRPr lang="fr-FR" sz="1800" dirty="0"/>
          </a:p>
          <a:p>
            <a:pPr>
              <a:tabLst>
                <a:tab pos="2453718" algn="l"/>
              </a:tabLst>
            </a:pPr>
            <a:endParaRPr lang="fr-FR" sz="1800" dirty="0"/>
          </a:p>
          <a:p>
            <a:pPr>
              <a:tabLst>
                <a:tab pos="2453718" algn="l"/>
              </a:tabLst>
            </a:pPr>
            <a:endParaRPr lang="fr-FR" sz="1800" dirty="0"/>
          </a:p>
          <a:p>
            <a:pPr>
              <a:tabLst>
                <a:tab pos="2453718" algn="l"/>
              </a:tabLst>
            </a:pPr>
            <a:endParaRPr lang="fr-FR" sz="1800" dirty="0"/>
          </a:p>
          <a:p>
            <a:pPr>
              <a:tabLst>
                <a:tab pos="2453718" algn="l"/>
              </a:tabLst>
            </a:pPr>
            <a:endParaRPr lang="fr-FR" sz="1800" dirty="0"/>
          </a:p>
          <a:p>
            <a:pPr>
              <a:tabLst>
                <a:tab pos="2453718" algn="l"/>
              </a:tabLst>
            </a:pPr>
            <a:endParaRPr lang="fr-FR" sz="700" b="1" u="sng" dirty="0" smtClean="0"/>
          </a:p>
          <a:p>
            <a:pPr>
              <a:tabLst>
                <a:tab pos="2453718" algn="l"/>
              </a:tabLst>
            </a:pPr>
            <a:r>
              <a:rPr lang="fr-FR" b="1" u="sng" dirty="0" smtClean="0"/>
              <a:t>TITULAIRE DU BAC</a:t>
            </a:r>
            <a:r>
              <a:rPr lang="fr-FR" b="1" dirty="0" smtClean="0"/>
              <a:t> :</a:t>
            </a:r>
          </a:p>
          <a:p>
            <a:pPr>
              <a:tabLst>
                <a:tab pos="2453718" algn="l"/>
              </a:tabLst>
            </a:pPr>
            <a:endParaRPr lang="fr-FR" b="1" dirty="0"/>
          </a:p>
          <a:p>
            <a:pPr>
              <a:tabLst>
                <a:tab pos="2453718" algn="l"/>
              </a:tabLst>
            </a:pPr>
            <a:endParaRPr lang="fr-FR" b="1" dirty="0" smtClean="0"/>
          </a:p>
          <a:p>
            <a:pPr>
              <a:tabLst>
                <a:tab pos="2453718" algn="l"/>
              </a:tabLst>
            </a:pPr>
            <a:endParaRPr lang="fr-FR" b="1" dirty="0" smtClean="0"/>
          </a:p>
          <a:p>
            <a:pPr>
              <a:tabLst>
                <a:tab pos="2453718" algn="l"/>
              </a:tabLst>
            </a:pPr>
            <a:endParaRPr lang="fr-FR" sz="1800" dirty="0"/>
          </a:p>
          <a:p>
            <a:pPr>
              <a:tabLst>
                <a:tab pos="2453718" algn="l"/>
              </a:tabLst>
            </a:pPr>
            <a:endParaRPr lang="fr-FR" sz="1800" dirty="0"/>
          </a:p>
          <a:p>
            <a:pPr>
              <a:tabLst>
                <a:tab pos="2453718" algn="l"/>
              </a:tabLst>
            </a:pPr>
            <a:endParaRPr lang="fr-FR" sz="1800" dirty="0"/>
          </a:p>
          <a:p>
            <a:pPr>
              <a:tabLst>
                <a:tab pos="2453718" algn="l"/>
              </a:tabLst>
            </a:pPr>
            <a:endParaRPr lang="fr-FR" sz="1800" dirty="0"/>
          </a:p>
          <a:p>
            <a:pPr>
              <a:tabLst>
                <a:tab pos="2453718" algn="l"/>
              </a:tabLst>
            </a:pPr>
            <a:endParaRPr lang="fr-FR" sz="1800" dirty="0"/>
          </a:p>
          <a:p>
            <a:pPr>
              <a:tabLst>
                <a:tab pos="2453718" algn="l"/>
              </a:tabLst>
            </a:pPr>
            <a:endParaRPr lang="fr-FR" sz="1800" dirty="0"/>
          </a:p>
          <a:p>
            <a:pPr>
              <a:tabLst>
                <a:tab pos="2453718" algn="l"/>
              </a:tabLst>
            </a:pPr>
            <a:endParaRPr lang="fr-FR" sz="1800" dirty="0"/>
          </a:p>
          <a:p>
            <a:pPr>
              <a:tabLst>
                <a:tab pos="2453718" algn="l"/>
              </a:tabLst>
            </a:pPr>
            <a:endParaRPr lang="fr-FR" sz="1800" dirty="0"/>
          </a:p>
          <a:p>
            <a:pPr>
              <a:tabLst>
                <a:tab pos="2453718" algn="l"/>
              </a:tabLst>
            </a:pPr>
            <a:endParaRPr lang="fr-FR" sz="1800" dirty="0"/>
          </a:p>
          <a:p>
            <a:pPr>
              <a:tabLst>
                <a:tab pos="2453718" algn="l"/>
              </a:tabLst>
            </a:pPr>
            <a:endParaRPr lang="fr-FR" sz="1800" dirty="0"/>
          </a:p>
          <a:p>
            <a:pPr>
              <a:tabLst>
                <a:tab pos="2453718" algn="l"/>
              </a:tabLst>
            </a:pPr>
            <a:endParaRPr lang="fr-FR" sz="1800" dirty="0"/>
          </a:p>
          <a:p>
            <a:pPr>
              <a:tabLst>
                <a:tab pos="2453718" algn="l"/>
              </a:tabLst>
            </a:pPr>
            <a:endParaRPr lang="fr-FR" sz="1800" dirty="0"/>
          </a:p>
          <a:p>
            <a:pPr>
              <a:tabLst>
                <a:tab pos="2453718" algn="l"/>
              </a:tabLst>
            </a:pPr>
            <a:endParaRPr lang="fr-FR" sz="1800" dirty="0"/>
          </a:p>
          <a:p>
            <a:pPr>
              <a:tabLst>
                <a:tab pos="2453718" algn="l"/>
              </a:tabLst>
            </a:pPr>
            <a:endParaRPr lang="fr-FR" sz="1800" dirty="0"/>
          </a:p>
          <a:p>
            <a:pPr>
              <a:tabLst>
                <a:tab pos="2453718" algn="l"/>
              </a:tabLst>
            </a:pPr>
            <a:endParaRPr lang="fr-FR" sz="1800" dirty="0"/>
          </a:p>
          <a:p>
            <a:pPr>
              <a:tabLst>
                <a:tab pos="2453718" algn="l"/>
              </a:tabLst>
            </a:pPr>
            <a:endParaRPr lang="fr-FR" sz="1800" dirty="0"/>
          </a:p>
          <a:p>
            <a:pPr>
              <a:tabLst>
                <a:tab pos="2453718" algn="l"/>
              </a:tabLst>
            </a:pPr>
            <a:endParaRPr lang="fr-FR" sz="1800" dirty="0"/>
          </a:p>
          <a:p>
            <a:pPr>
              <a:tabLst>
                <a:tab pos="2453718" algn="l"/>
              </a:tabLst>
            </a:pPr>
            <a:endParaRPr lang="fr-FR" sz="1800" dirty="0"/>
          </a:p>
          <a:p>
            <a:pPr>
              <a:tabLst>
                <a:tab pos="2453718" algn="l"/>
              </a:tabLst>
            </a:pPr>
            <a:r>
              <a:rPr lang="fr-FR" sz="1800" dirty="0"/>
              <a:t>	</a:t>
            </a:r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162124" y="3348583"/>
          <a:ext cx="4799934" cy="14978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3385"/>
                <a:gridCol w="1869734"/>
                <a:gridCol w="1936815"/>
              </a:tblGrid>
              <a:tr h="624633">
                <a:tc>
                  <a:txBody>
                    <a:bodyPr/>
                    <a:lstStyle/>
                    <a:p>
                      <a:pPr algn="ctr"/>
                      <a:r>
                        <a:rPr lang="fr-FR" sz="1500" b="1" dirty="0" smtClean="0"/>
                        <a:t>Année en cours</a:t>
                      </a:r>
                      <a:endParaRPr lang="fr-FR" sz="1500" b="1" dirty="0"/>
                    </a:p>
                  </a:txBody>
                  <a:tcPr marL="106934" marR="106934" marT="50408" marB="5040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b="1" dirty="0" smtClean="0"/>
                        <a:t>Etablissement </a:t>
                      </a:r>
                    </a:p>
                    <a:p>
                      <a:pPr algn="ctr"/>
                      <a:r>
                        <a:rPr lang="fr-FR" sz="1500" b="1" dirty="0" smtClean="0"/>
                        <a:t>Nom &amp; Adresse</a:t>
                      </a:r>
                      <a:endParaRPr lang="fr-FR" sz="1500" b="1" dirty="0"/>
                    </a:p>
                  </a:txBody>
                  <a:tcPr marL="106934" marR="106934" marT="50408" marB="5040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b="1" dirty="0" smtClean="0"/>
                        <a:t>Formation</a:t>
                      </a:r>
                      <a:endParaRPr lang="fr-FR" sz="1500" b="1" dirty="0"/>
                    </a:p>
                  </a:txBody>
                  <a:tcPr marL="106934" marR="106934" marT="50408" marB="5040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873217"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 smtClean="0"/>
                        <a:t>20……</a:t>
                      </a:r>
                    </a:p>
                    <a:p>
                      <a:pPr algn="ctr"/>
                      <a:r>
                        <a:rPr lang="fr-FR" sz="1600" b="0" dirty="0" smtClean="0"/>
                        <a:t>-</a:t>
                      </a:r>
                    </a:p>
                    <a:p>
                      <a:pPr algn="ctr"/>
                      <a:r>
                        <a:rPr lang="fr-FR" sz="1600" b="0" dirty="0" smtClean="0"/>
                        <a:t>20……</a:t>
                      </a:r>
                      <a:endParaRPr lang="fr-FR" sz="1600" b="0" dirty="0"/>
                    </a:p>
                  </a:txBody>
                  <a:tcPr marL="106934" marR="106934" marT="50408" marB="50408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500" b="1" dirty="0"/>
                    </a:p>
                  </a:txBody>
                  <a:tcPr marL="106934" marR="106934" marT="50408" marB="50408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500" b="1" dirty="0"/>
                    </a:p>
                  </a:txBody>
                  <a:tcPr marL="106934" marR="106934" marT="50408" marB="50408" anchor="ctr"/>
                </a:tc>
              </a:tr>
            </a:tbl>
          </a:graphicData>
        </a:graphic>
      </p:graphicFrame>
      <p:graphicFrame>
        <p:nvGraphicFramePr>
          <p:cNvPr id="7" name="Tableau 6"/>
          <p:cNvGraphicFramePr>
            <a:graphicFrameLocks noGrp="1"/>
          </p:cNvGraphicFramePr>
          <p:nvPr/>
        </p:nvGraphicFramePr>
        <p:xfrm>
          <a:off x="162124" y="5724847"/>
          <a:ext cx="4799400" cy="12597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99800"/>
                <a:gridCol w="1599800"/>
                <a:gridCol w="1599800"/>
              </a:tblGrid>
              <a:tr h="624633">
                <a:tc>
                  <a:txBody>
                    <a:bodyPr/>
                    <a:lstStyle/>
                    <a:p>
                      <a:pPr algn="ctr"/>
                      <a:r>
                        <a:rPr lang="fr-FR" sz="1500" b="1" dirty="0" smtClean="0"/>
                        <a:t>Spécialité</a:t>
                      </a:r>
                      <a:endParaRPr lang="fr-FR" sz="1500" b="1" dirty="0"/>
                    </a:p>
                  </a:txBody>
                  <a:tcPr marL="106934" marR="106934" marT="50408" marB="5040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b="1" dirty="0" smtClean="0"/>
                        <a:t>Etablissement</a:t>
                      </a:r>
                      <a:endParaRPr lang="fr-FR" sz="1500" b="1" dirty="0"/>
                    </a:p>
                  </a:txBody>
                  <a:tcPr marL="106934" marR="106934" marT="50408" marB="5040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b="1" dirty="0" smtClean="0"/>
                        <a:t>Année</a:t>
                      </a:r>
                      <a:r>
                        <a:rPr lang="fr-FR" sz="1500" b="1" baseline="0" dirty="0" smtClean="0"/>
                        <a:t> d’obtention</a:t>
                      </a:r>
                      <a:endParaRPr lang="fr-FR" sz="1500" b="1" dirty="0"/>
                    </a:p>
                  </a:txBody>
                  <a:tcPr marL="106934" marR="106934" marT="50408" marB="5040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35067">
                <a:tc>
                  <a:txBody>
                    <a:bodyPr/>
                    <a:lstStyle/>
                    <a:p>
                      <a:pPr algn="ctr"/>
                      <a:endParaRPr lang="fr-FR" sz="1500" b="1" dirty="0" smtClean="0"/>
                    </a:p>
                    <a:p>
                      <a:pPr algn="ctr"/>
                      <a:endParaRPr lang="fr-FR" sz="1500" b="1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ctr"/>
                      <a:endParaRPr lang="fr-FR" sz="1500" b="1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ctr"/>
                      <a:endParaRPr lang="fr-FR" sz="1500" b="1" dirty="0"/>
                    </a:p>
                  </a:txBody>
                  <a:tcPr marL="106934" marR="106934" marT="50408" marB="50408"/>
                </a:tc>
              </a:tr>
            </a:tbl>
          </a:graphicData>
        </a:graphic>
      </p:graphicFrame>
      <p:sp>
        <p:nvSpPr>
          <p:cNvPr id="28" name="ZoneTexte 27"/>
          <p:cNvSpPr txBox="1"/>
          <p:nvPr/>
        </p:nvSpPr>
        <p:spPr>
          <a:xfrm>
            <a:off x="5556629" y="287377"/>
            <a:ext cx="5136771" cy="7065902"/>
          </a:xfrm>
          <a:prstGeom prst="rect">
            <a:avLst/>
          </a:prstGeom>
          <a:noFill/>
        </p:spPr>
        <p:txBody>
          <a:bodyPr wrap="square" lIns="104306" tIns="52153" rIns="104306" bIns="52153" rtlCol="0">
            <a:noAutofit/>
          </a:bodyPr>
          <a:lstStyle/>
          <a:p>
            <a:endParaRPr lang="fr-FR" dirty="0" err="1"/>
          </a:p>
          <a:p>
            <a:endParaRPr lang="fr-FR" dirty="0" err="1" smtClean="0"/>
          </a:p>
          <a:p>
            <a:endParaRPr lang="fr-FR" dirty="0" err="1"/>
          </a:p>
          <a:p>
            <a:endParaRPr lang="fr-FR" dirty="0" err="1" smtClean="0"/>
          </a:p>
          <a:p>
            <a:pPr algn="ctr"/>
            <a:endParaRPr lang="fr-FR" dirty="0" err="1" smtClean="0"/>
          </a:p>
          <a:p>
            <a:pPr algn="ctr"/>
            <a:endParaRPr lang="fr-FR" sz="500" b="1" dirty="0" smtClean="0"/>
          </a:p>
          <a:p>
            <a:pPr algn="ctr"/>
            <a:r>
              <a:rPr lang="fr-FR" sz="1600" b="1" dirty="0" smtClean="0"/>
              <a:t>Si </a:t>
            </a:r>
            <a:r>
              <a:rPr lang="fr-FR" sz="1600" b="1" dirty="0"/>
              <a:t>d’autres formations vous intéressent, merci d’indiquer un ordre de vœux et de remplir les fiches </a:t>
            </a:r>
            <a:r>
              <a:rPr lang="fr-FR" sz="1600" b="1" dirty="0" smtClean="0"/>
              <a:t/>
            </a:r>
            <a:br>
              <a:rPr lang="fr-FR" sz="1600" b="1" dirty="0" smtClean="0"/>
            </a:br>
            <a:r>
              <a:rPr lang="fr-FR" sz="1600" b="1" dirty="0" smtClean="0"/>
              <a:t>«</a:t>
            </a:r>
            <a:r>
              <a:rPr lang="fr-FR" sz="1600" b="1" dirty="0"/>
              <a:t> </a:t>
            </a:r>
            <a:r>
              <a:rPr lang="fr-FR" sz="1600" b="1" dirty="0" smtClean="0"/>
              <a:t>premier </a:t>
            </a:r>
            <a:r>
              <a:rPr lang="fr-FR" sz="1600" b="1" dirty="0"/>
              <a:t>contact » concernant ces formations.</a:t>
            </a:r>
          </a:p>
          <a:p>
            <a:endParaRPr lang="fr-FR" dirty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b="1" dirty="0" smtClean="0"/>
          </a:p>
          <a:p>
            <a:endParaRPr lang="fr-FR" sz="1600" b="1" dirty="0"/>
          </a:p>
          <a:p>
            <a:endParaRPr lang="fr-FR" sz="1100" b="1" dirty="0"/>
          </a:p>
          <a:p>
            <a:r>
              <a:rPr lang="fr-FR" b="1" u="sng" dirty="0" smtClean="0"/>
              <a:t>LIEU DE LA PRISE DE CONTACT</a:t>
            </a:r>
            <a:r>
              <a:rPr lang="fr-FR" b="1" dirty="0" smtClean="0"/>
              <a:t> :</a:t>
            </a:r>
          </a:p>
          <a:p>
            <a:endParaRPr lang="fr-FR" sz="1600" dirty="0"/>
          </a:p>
          <a:p>
            <a:pPr>
              <a:buFont typeface="Wingdings" pitchFamily="2" charset="2"/>
              <a:buChar char="§"/>
              <a:tabLst>
                <a:tab pos="3272227" algn="l"/>
              </a:tabLst>
            </a:pPr>
            <a:r>
              <a:rPr lang="fr-FR" sz="1800" dirty="0" smtClean="0"/>
              <a:t> Forum </a:t>
            </a:r>
            <a:r>
              <a:rPr lang="fr-FR" sz="1800" dirty="0"/>
              <a:t>Avenir Etudiant 	</a:t>
            </a:r>
            <a:r>
              <a:rPr lang="fr-FR" sz="1800" dirty="0">
                <a:sym typeface="Wingdings"/>
              </a:rPr>
              <a:t></a:t>
            </a:r>
            <a:endParaRPr lang="fr-FR" sz="1800" dirty="0"/>
          </a:p>
          <a:p>
            <a:pPr>
              <a:buFont typeface="Wingdings" pitchFamily="2" charset="2"/>
              <a:buChar char="§"/>
              <a:tabLst>
                <a:tab pos="3272227" algn="l"/>
              </a:tabLst>
            </a:pPr>
            <a:r>
              <a:rPr lang="fr-FR" sz="1800" dirty="0" smtClean="0"/>
              <a:t> Portes </a:t>
            </a:r>
            <a:r>
              <a:rPr lang="fr-FR" sz="1800" dirty="0"/>
              <a:t>ouvertes du lycée Monge	</a:t>
            </a:r>
            <a:r>
              <a:rPr lang="fr-FR" sz="1800" dirty="0">
                <a:sym typeface="Wingdings"/>
              </a:rPr>
              <a:t></a:t>
            </a:r>
            <a:endParaRPr lang="fr-FR" sz="1800" dirty="0"/>
          </a:p>
          <a:p>
            <a:pPr>
              <a:buFont typeface="Wingdings" pitchFamily="2" charset="2"/>
              <a:buChar char="§"/>
              <a:tabLst>
                <a:tab pos="3272227" algn="l"/>
              </a:tabLst>
            </a:pPr>
            <a:r>
              <a:rPr lang="fr-FR" sz="1800" dirty="0" smtClean="0"/>
              <a:t> Autre </a:t>
            </a:r>
            <a:r>
              <a:rPr lang="fr-FR" sz="1800" dirty="0"/>
              <a:t>(précisez) </a:t>
            </a:r>
            <a:r>
              <a:rPr lang="fr-FR" sz="1800" dirty="0" smtClean="0"/>
              <a:t>: ………………………………………………</a:t>
            </a:r>
            <a:endParaRPr lang="fr-FR" sz="1800" dirty="0"/>
          </a:p>
        </p:txBody>
      </p:sp>
      <p:graphicFrame>
        <p:nvGraphicFramePr>
          <p:cNvPr id="30" name="Tableau 29"/>
          <p:cNvGraphicFramePr>
            <a:graphicFrameLocks noGrp="1"/>
          </p:cNvGraphicFramePr>
          <p:nvPr/>
        </p:nvGraphicFramePr>
        <p:xfrm>
          <a:off x="5778748" y="540271"/>
          <a:ext cx="4799400" cy="13198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20800"/>
                <a:gridCol w="1389300"/>
                <a:gridCol w="1389300"/>
              </a:tblGrid>
              <a:tr h="624633">
                <a:tc>
                  <a:txBody>
                    <a:bodyPr/>
                    <a:lstStyle/>
                    <a:p>
                      <a:pPr algn="ctr"/>
                      <a:r>
                        <a:rPr lang="fr-FR" sz="1500" b="1" dirty="0" smtClean="0"/>
                        <a:t>Formation(s)</a:t>
                      </a:r>
                      <a:r>
                        <a:rPr lang="fr-FR" sz="1500" b="1" baseline="0" dirty="0" smtClean="0"/>
                        <a:t> choisie(s)</a:t>
                      </a:r>
                      <a:endParaRPr lang="fr-FR" sz="1500" b="1" dirty="0"/>
                    </a:p>
                  </a:txBody>
                  <a:tcPr marL="106934" marR="106934" marT="50408" marB="5040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b="1" dirty="0" smtClean="0"/>
                        <a:t>Formation Initiale</a:t>
                      </a:r>
                      <a:endParaRPr lang="fr-FR" sz="1500" b="1" dirty="0"/>
                    </a:p>
                  </a:txBody>
                  <a:tcPr marL="106934" marR="106934" marT="50408" marB="5040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b="1" dirty="0" smtClean="0"/>
                        <a:t>Formation en Alternance</a:t>
                      </a:r>
                      <a:endParaRPr lang="fr-FR" sz="1500" b="1" dirty="0"/>
                    </a:p>
                  </a:txBody>
                  <a:tcPr marL="106934" marR="106934" marT="50408" marB="5040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fr-FR" sz="1300" b="0" dirty="0" smtClean="0"/>
                        <a:t>BTS  Services</a:t>
                      </a:r>
                      <a:r>
                        <a:rPr lang="fr-FR" sz="1300" b="0" baseline="0" dirty="0" smtClean="0"/>
                        <a:t> Informatiques  aux Organisations</a:t>
                      </a:r>
                      <a:endParaRPr lang="fr-FR" sz="1300" b="0" dirty="0"/>
                    </a:p>
                  </a:txBody>
                  <a:tcPr marL="106934" marR="106934" marT="50408" marB="504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300" b="0" dirty="0" smtClean="0"/>
                        <a:t>    Rang</a:t>
                      </a:r>
                      <a:r>
                        <a:rPr lang="fr-FR" sz="1300" b="0" baseline="0" dirty="0" smtClean="0"/>
                        <a:t> : </a:t>
                      </a:r>
                      <a:endParaRPr lang="fr-FR" sz="1300" b="0" dirty="0"/>
                    </a:p>
                  </a:txBody>
                  <a:tcPr marL="106934" marR="106934" marT="50408" marB="504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300" b="0" dirty="0" smtClean="0"/>
                        <a:t>    Rang</a:t>
                      </a:r>
                      <a:r>
                        <a:rPr lang="fr-FR" sz="1300" b="0" baseline="0" dirty="0" smtClean="0"/>
                        <a:t> : </a:t>
                      </a:r>
                      <a:endParaRPr lang="fr-FR" sz="1300" b="0" dirty="0"/>
                    </a:p>
                  </a:txBody>
                  <a:tcPr marL="106934" marR="106934" marT="50408" marB="50408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au 30"/>
          <p:cNvGraphicFramePr>
            <a:graphicFrameLocks noGrp="1"/>
          </p:cNvGraphicFramePr>
          <p:nvPr/>
        </p:nvGraphicFramePr>
        <p:xfrm>
          <a:off x="5778748" y="2916535"/>
          <a:ext cx="4799400" cy="22446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20800"/>
                <a:gridCol w="1389300"/>
                <a:gridCol w="1389300"/>
              </a:tblGrid>
              <a:tr h="624633">
                <a:tc>
                  <a:txBody>
                    <a:bodyPr/>
                    <a:lstStyle/>
                    <a:p>
                      <a:pPr algn="ctr"/>
                      <a:r>
                        <a:rPr lang="fr-FR" sz="1500" b="1" dirty="0" smtClean="0"/>
                        <a:t>Formation(s)</a:t>
                      </a:r>
                      <a:r>
                        <a:rPr lang="fr-FR" sz="1500" b="1" baseline="0" dirty="0" smtClean="0"/>
                        <a:t> choisie(s)</a:t>
                      </a:r>
                      <a:endParaRPr lang="fr-FR" sz="1500" b="1" dirty="0"/>
                    </a:p>
                  </a:txBody>
                  <a:tcPr marL="106934" marR="106934" marT="50408" marB="5040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b="1" dirty="0" smtClean="0"/>
                        <a:t>Formation Initiale</a:t>
                      </a:r>
                      <a:endParaRPr lang="fr-FR" sz="1500" b="1" dirty="0"/>
                    </a:p>
                  </a:txBody>
                  <a:tcPr marL="106934" marR="106934" marT="50408" marB="5040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b="1" dirty="0" smtClean="0"/>
                        <a:t>Formation en Alternance</a:t>
                      </a:r>
                      <a:endParaRPr lang="fr-FR" sz="1500" b="1" dirty="0"/>
                    </a:p>
                  </a:txBody>
                  <a:tcPr marL="106934" marR="106934" marT="50408" marB="5040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fr-FR" sz="1300" b="0" dirty="0" smtClean="0"/>
                        <a:t>BTS  Comptabilité et Gestion</a:t>
                      </a:r>
                      <a:endParaRPr lang="fr-FR" sz="1300" b="0" dirty="0"/>
                    </a:p>
                  </a:txBody>
                  <a:tcPr marL="106934" marR="106934" marT="50408" marB="504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300" b="0" dirty="0" smtClean="0"/>
                        <a:t>    Rang</a:t>
                      </a:r>
                      <a:r>
                        <a:rPr lang="fr-FR" sz="1300" b="0" baseline="0" dirty="0" smtClean="0"/>
                        <a:t> : </a:t>
                      </a:r>
                      <a:endParaRPr lang="fr-FR" sz="1300" b="0" dirty="0"/>
                    </a:p>
                  </a:txBody>
                  <a:tcPr marL="106934" marR="106934" marT="50408" marB="504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300" b="0" dirty="0" smtClean="0"/>
                        <a:t>    Rang</a:t>
                      </a:r>
                      <a:r>
                        <a:rPr lang="fr-FR" sz="1300" b="0" baseline="0" dirty="0" smtClean="0"/>
                        <a:t> : </a:t>
                      </a:r>
                      <a:endParaRPr lang="fr-FR" sz="1300" b="0" dirty="0"/>
                    </a:p>
                  </a:txBody>
                  <a:tcPr marL="106934" marR="106934" marT="50408" marB="50408" anchor="ctr">
                    <a:solidFill>
                      <a:schemeClr val="bg1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fr-FR" sz="1300" b="0" dirty="0" smtClean="0"/>
                        <a:t>BTS Négociation et Relation Client</a:t>
                      </a:r>
                      <a:endParaRPr lang="fr-FR" sz="1300" b="0" dirty="0"/>
                    </a:p>
                  </a:txBody>
                  <a:tcPr marL="106934" marR="106934" marT="50408" marB="504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300" b="0" dirty="0" smtClean="0"/>
                        <a:t>    Rang</a:t>
                      </a:r>
                      <a:r>
                        <a:rPr lang="fr-FR" sz="1300" b="0" baseline="0" dirty="0" smtClean="0"/>
                        <a:t> : </a:t>
                      </a:r>
                      <a:endParaRPr lang="fr-FR" sz="1300" b="0" dirty="0"/>
                    </a:p>
                  </a:txBody>
                  <a:tcPr marL="106934" marR="106934" marT="50408" marB="504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300" b="0" dirty="0" smtClean="0"/>
                        <a:t>    Rang</a:t>
                      </a:r>
                      <a:r>
                        <a:rPr lang="fr-FR" sz="1300" b="0" baseline="0" dirty="0" smtClean="0"/>
                        <a:t> : </a:t>
                      </a:r>
                      <a:endParaRPr lang="fr-FR" sz="1300" b="0" dirty="0"/>
                    </a:p>
                  </a:txBody>
                  <a:tcPr marL="106934" marR="106934" marT="50408" marB="50408" anchor="ctr">
                    <a:solidFill>
                      <a:schemeClr val="bg1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fr-FR" sz="1300" b="0" dirty="0" smtClean="0"/>
                        <a:t>BTS Banque</a:t>
                      </a:r>
                    </a:p>
                  </a:txBody>
                  <a:tcPr marL="106934" marR="106934" marT="50408" marB="50408" anchor="ctr"/>
                </a:tc>
                <a:tc>
                  <a:txBody>
                    <a:bodyPr/>
                    <a:lstStyle/>
                    <a:p>
                      <a:pPr algn="l"/>
                      <a:endParaRPr lang="fr-FR" sz="1300" b="0" dirty="0">
                        <a:solidFill>
                          <a:srgbClr val="00B050"/>
                        </a:solidFill>
                      </a:endParaRPr>
                    </a:p>
                  </a:txBody>
                  <a:tcPr marL="106934" marR="106934" marT="50408" marB="50408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300" b="0" dirty="0" smtClean="0"/>
                        <a:t>     Rang</a:t>
                      </a:r>
                      <a:r>
                        <a:rPr lang="fr-FR" sz="1300" b="0" baseline="0" dirty="0" smtClean="0"/>
                        <a:t> : </a:t>
                      </a:r>
                      <a:endParaRPr lang="fr-FR" sz="1300" b="0" dirty="0"/>
                    </a:p>
                  </a:txBody>
                  <a:tcPr marL="106934" marR="106934" marT="50408" marB="50408"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108</Words>
  <Application>Microsoft Office PowerPoint</Application>
  <PresentationFormat>Personnalisé</PresentationFormat>
  <Paragraphs>99</Paragraphs>
  <Slides>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3" baseType="lpstr">
      <vt:lpstr>Thème Office</vt:lpstr>
      <vt:lpstr>Diapositive 1</vt:lpstr>
      <vt:lpstr>Diapositive 2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cottel</dc:creator>
  <cp:lastModifiedBy>cottel</cp:lastModifiedBy>
  <cp:revision>19</cp:revision>
  <dcterms:created xsi:type="dcterms:W3CDTF">2015-11-17T14:54:44Z</dcterms:created>
  <dcterms:modified xsi:type="dcterms:W3CDTF">2016-01-19T15:27:17Z</dcterms:modified>
</cp:coreProperties>
</file>